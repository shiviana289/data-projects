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1B1D6B8-CC62-4B3A-B8C0-3D12BBF7CC9A}">
  <a:tblStyle styleId="{21B1D6B8-CC62-4B3A-B8C0-3D12BBF7CC9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81af2c0fd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81af2c0fd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Analytics framework = </a:t>
            </a:r>
            <a:r>
              <a:rPr lang="en">
                <a:solidFill>
                  <a:schemeClr val="dk1"/>
                </a:solidFill>
              </a:rPr>
              <a:t>Goal definition, Data collection, Data analysis and modeling, Interpretation, action, and feedback</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88715c0113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88715c0113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1100"/>
              <a:buFont typeface="Arial"/>
              <a:buNone/>
            </a:pPr>
            <a:r>
              <a:rPr lang="en">
                <a:solidFill>
                  <a:srgbClr val="595959"/>
                </a:solidFill>
              </a:rPr>
              <a:t>Create two forecasting models: Moving Average (MA) model and Autoregressive (AR) model and use Autocorrelation Function (ACF) and Partial Autocorrelation Function (PACF) to determine the degrees q and p of the models MA(q) and AR(p). As determined by the ACF and PACF visualizations, use both modeling approaches on the same dataset.  Use each modeling approach separately. Note that in some cases, the model may be MA(0) or AR(0</a:t>
            </a:r>
            <a:endParaRPr sz="4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88715c0113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88715c0113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Insert ss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819c6d8ca6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819c6d8ca6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8c59a2e98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8c59a2e98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94801e8be4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94801e8be4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819c6d8ca6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819c6d8ca6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1150" lvl="0" marL="457200" rtl="0" algn="l">
              <a:lnSpc>
                <a:spcPct val="115000"/>
              </a:lnSpc>
              <a:spcBef>
                <a:spcPts val="1200"/>
              </a:spcBef>
              <a:spcAft>
                <a:spcPts val="0"/>
              </a:spcAft>
              <a:buClr>
                <a:schemeClr val="dk1"/>
              </a:buClr>
              <a:buSzPts val="1300"/>
              <a:buChar char="●"/>
            </a:pPr>
            <a:r>
              <a:rPr lang="en" sz="1300">
                <a:solidFill>
                  <a:schemeClr val="dk1"/>
                </a:solidFill>
              </a:rPr>
              <a:t>What the p and q are, interpretation of it + image  </a:t>
            </a:r>
            <a:endParaRPr sz="1300">
              <a:solidFill>
                <a:schemeClr val="dk1"/>
              </a:solidFill>
            </a:endParaRPr>
          </a:p>
          <a:p>
            <a:pPr indent="0" lvl="0" marL="0" rtl="0" algn="l">
              <a:spcBef>
                <a:spcPts val="1200"/>
              </a:spcBef>
              <a:spcAft>
                <a:spcPts val="0"/>
              </a:spcAft>
              <a:buNone/>
            </a:pPr>
            <a:r>
              <a:t/>
            </a:r>
            <a:endParaRPr sz="1050">
              <a:solidFill>
                <a:schemeClr val="dk1"/>
              </a:solidFill>
              <a:highlight>
                <a:srgbClr val="FFFFFF"/>
              </a:highlight>
              <a:latin typeface="Courier New"/>
              <a:ea typeface="Courier New"/>
              <a:cs typeface="Courier New"/>
              <a:sym typeface="Courier New"/>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8c59a2e989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8c59a2e989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First graph</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8c59a2e989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8c59a2e989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First graph</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8c59a2e989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8c59a2e989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First graph</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8c59a2e989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8c59a2e989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First graph</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317500" lvl="0" marL="457200" rtl="0" algn="l">
              <a:lnSpc>
                <a:spcPct val="115000"/>
              </a:lnSpc>
              <a:spcBef>
                <a:spcPts val="0"/>
              </a:spcBef>
              <a:spcAft>
                <a:spcPts val="0"/>
              </a:spcAft>
              <a:buClr>
                <a:srgbClr val="595959"/>
              </a:buClr>
              <a:buSzPts val="1400"/>
              <a:buChar char="●"/>
            </a:pPr>
            <a:r>
              <a:rPr lang="en" sz="1400">
                <a:solidFill>
                  <a:srgbClr val="595959"/>
                </a:solidFill>
              </a:rPr>
              <a:t> SARIMAX delivers the best performance among all models by combining differencing, autoregression, moving average, and explicit weekly seasonality</a:t>
            </a:r>
            <a:endParaRPr sz="1400">
              <a:solidFill>
                <a:srgbClr val="595959"/>
              </a:solidFill>
            </a:endParaRPr>
          </a:p>
          <a:p>
            <a:pPr indent="-317500" lvl="0" marL="457200" rtl="0" algn="l">
              <a:lnSpc>
                <a:spcPct val="115000"/>
              </a:lnSpc>
              <a:spcBef>
                <a:spcPts val="0"/>
              </a:spcBef>
              <a:spcAft>
                <a:spcPts val="0"/>
              </a:spcAft>
              <a:buClr>
                <a:srgbClr val="595959"/>
              </a:buClr>
              <a:buSzPts val="1400"/>
              <a:buChar char="●"/>
            </a:pPr>
            <a:r>
              <a:t/>
            </a:r>
            <a:endParaRPr sz="1400">
              <a:solidFill>
                <a:srgbClr val="595959"/>
              </a:solidFill>
            </a:endParaRPr>
          </a:p>
          <a:p>
            <a:pPr indent="0" lvl="0" marL="0" rtl="0" algn="l">
              <a:spcBef>
                <a:spcPts val="120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81af2c0fd7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81af2c0fd7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Insert ss</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8c90937f9a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8c90937f9a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Insert ss</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5.png"/><Relationship Id="rId5"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b="1" lang="en"/>
              <a:t>Power Consumption Dataset</a:t>
            </a:r>
            <a:endParaRPr b="1"/>
          </a:p>
          <a:p>
            <a:pPr indent="0" lvl="0" marL="0" rtl="0" algn="ctr">
              <a:spcBef>
                <a:spcPts val="0"/>
              </a:spcBef>
              <a:spcAft>
                <a:spcPts val="0"/>
              </a:spcAft>
              <a:buNone/>
            </a:pPr>
            <a:r>
              <a:rPr b="1" i="1" lang="en" sz="3533"/>
              <a:t>Time-Series Modeling (AR, MA, ARIMA)</a:t>
            </a:r>
            <a:endParaRPr b="1" i="1" sz="3533"/>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
              <a:t>Shivi Anand, Edvina Buyuksoy</a:t>
            </a:r>
            <a:endParaRPr/>
          </a:p>
          <a:p>
            <a:pPr indent="0" lvl="0" marL="0" rtl="0" algn="ctr">
              <a:spcBef>
                <a:spcPts val="0"/>
              </a:spcBef>
              <a:spcAft>
                <a:spcPts val="0"/>
              </a:spcAft>
              <a:buNone/>
            </a:pPr>
            <a:r>
              <a:rPr lang="en"/>
              <a:t>DSO 424: Business Forecasting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pic>
        <p:nvPicPr>
          <p:cNvPr id="60" name="Google Shape;60;p14" title="Screenshot 2025-10-12 at 5.04.37 PM.png"/>
          <p:cNvPicPr preferRelativeResize="0"/>
          <p:nvPr/>
        </p:nvPicPr>
        <p:blipFill>
          <a:blip r:embed="rId3">
            <a:alphaModFix/>
          </a:blip>
          <a:stretch>
            <a:fillRect/>
          </a:stretch>
        </p:blipFill>
        <p:spPr>
          <a:xfrm>
            <a:off x="1142848" y="0"/>
            <a:ext cx="6749355" cy="51435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Goal Definition</a:t>
            </a:r>
            <a:endParaRPr b="1"/>
          </a:p>
        </p:txBody>
      </p:sp>
      <p:sp>
        <p:nvSpPr>
          <p:cNvPr id="66" name="Google Shape;66;p15"/>
          <p:cNvSpPr txBox="1"/>
          <p:nvPr>
            <p:ph idx="1" type="body"/>
          </p:nvPr>
        </p:nvSpPr>
        <p:spPr>
          <a:xfrm>
            <a:off x="311700" y="1152475"/>
            <a:ext cx="8445900" cy="256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solidFill>
                  <a:schemeClr val="dk1"/>
                </a:solidFill>
              </a:rPr>
              <a:t>Goal:</a:t>
            </a:r>
            <a:r>
              <a:rPr lang="en" sz="1400">
                <a:solidFill>
                  <a:schemeClr val="dk1"/>
                </a:solidFill>
              </a:rPr>
              <a:t> </a:t>
            </a:r>
            <a:r>
              <a:rPr b="1" lang="en" sz="1400">
                <a:solidFill>
                  <a:schemeClr val="dk1"/>
                </a:solidFill>
              </a:rPr>
              <a:t>A</a:t>
            </a:r>
            <a:r>
              <a:rPr b="1" lang="en" sz="1400">
                <a:solidFill>
                  <a:schemeClr val="dk1"/>
                </a:solidFill>
              </a:rPr>
              <a:t>nalyze and forecast daily electricity consumption patterns</a:t>
            </a:r>
            <a:r>
              <a:rPr lang="en" sz="1400">
                <a:solidFill>
                  <a:schemeClr val="dk1"/>
                </a:solidFill>
              </a:rPr>
              <a:t> in the city of Tetouan, Morocco, using historical power usage and weather data. The objective is to </a:t>
            </a:r>
            <a:r>
              <a:rPr b="1" lang="en" sz="1400">
                <a:solidFill>
                  <a:schemeClr val="dk1"/>
                </a:solidFill>
              </a:rPr>
              <a:t>build time series forecasting models, Autoregressive (AR), Moving Average (MA), and ARIMA</a:t>
            </a:r>
            <a:r>
              <a:rPr lang="en" sz="1400">
                <a:solidFill>
                  <a:schemeClr val="dk1"/>
                </a:solidFill>
              </a:rPr>
              <a:t>, </a:t>
            </a:r>
            <a:r>
              <a:rPr lang="en" sz="1400">
                <a:solidFill>
                  <a:schemeClr val="dk1"/>
                </a:solidFill>
              </a:rPr>
              <a:t>to </a:t>
            </a:r>
            <a:r>
              <a:rPr lang="en" sz="1400">
                <a:solidFill>
                  <a:schemeClr val="dk1"/>
                </a:solidFill>
              </a:rPr>
              <a:t>predict future power demand and evaluate which model provides the most accurate forecast</a:t>
            </a:r>
            <a:endParaRPr sz="1400"/>
          </a:p>
          <a:p>
            <a:pPr indent="0" lvl="0" marL="0" rtl="0" algn="l">
              <a:spcBef>
                <a:spcPts val="1200"/>
              </a:spcBef>
              <a:spcAft>
                <a:spcPts val="0"/>
              </a:spcAft>
              <a:buNone/>
            </a:pPr>
            <a:r>
              <a:rPr b="1" lang="en" sz="1400">
                <a:solidFill>
                  <a:schemeClr val="dk1"/>
                </a:solidFill>
              </a:rPr>
              <a:t>Dependent variable: </a:t>
            </a:r>
            <a:r>
              <a:rPr lang="en" sz="1400">
                <a:solidFill>
                  <a:schemeClr val="dk1"/>
                </a:solidFill>
              </a:rPr>
              <a:t>PowerConsumption_Zone2</a:t>
            </a:r>
            <a:endParaRPr sz="1400">
              <a:solidFill>
                <a:schemeClr val="dk1"/>
              </a:solidFill>
            </a:endParaRPr>
          </a:p>
          <a:p>
            <a:pPr indent="0" lvl="0" marL="0" rtl="0" algn="l">
              <a:lnSpc>
                <a:spcPct val="100000"/>
              </a:lnSpc>
              <a:spcBef>
                <a:spcPts val="1200"/>
              </a:spcBef>
              <a:spcAft>
                <a:spcPts val="0"/>
              </a:spcAft>
              <a:buNone/>
            </a:pPr>
            <a:r>
              <a:t/>
            </a:r>
            <a:endParaRPr sz="1400">
              <a:solidFill>
                <a:srgbClr val="660000"/>
              </a:solidFill>
            </a:endParaRPr>
          </a:p>
        </p:txBody>
      </p:sp>
      <p:pic>
        <p:nvPicPr>
          <p:cNvPr id="67" name="Google Shape;67;p15"/>
          <p:cNvPicPr preferRelativeResize="0"/>
          <p:nvPr/>
        </p:nvPicPr>
        <p:blipFill>
          <a:blip r:embed="rId3">
            <a:alphaModFix/>
          </a:blip>
          <a:stretch>
            <a:fillRect/>
          </a:stretch>
        </p:blipFill>
        <p:spPr>
          <a:xfrm>
            <a:off x="1372100" y="3304950"/>
            <a:ext cx="1783125" cy="1185500"/>
          </a:xfrm>
          <a:prstGeom prst="rect">
            <a:avLst/>
          </a:prstGeom>
          <a:noFill/>
          <a:ln>
            <a:noFill/>
          </a:ln>
        </p:spPr>
      </p:pic>
      <p:pic>
        <p:nvPicPr>
          <p:cNvPr id="68" name="Google Shape;68;p15" title="Screenshot 2025-10-13 at 17.18.51.png"/>
          <p:cNvPicPr preferRelativeResize="0"/>
          <p:nvPr/>
        </p:nvPicPr>
        <p:blipFill>
          <a:blip r:embed="rId4">
            <a:alphaModFix/>
          </a:blip>
          <a:stretch>
            <a:fillRect/>
          </a:stretch>
        </p:blipFill>
        <p:spPr>
          <a:xfrm>
            <a:off x="4201800" y="3634525"/>
            <a:ext cx="4162002" cy="52634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idx="1" type="body"/>
          </p:nvPr>
        </p:nvSpPr>
        <p:spPr>
          <a:xfrm>
            <a:off x="171100" y="911250"/>
            <a:ext cx="8774400" cy="38250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Char char="●"/>
            </a:pPr>
            <a:r>
              <a:rPr lang="en" sz="1400">
                <a:solidFill>
                  <a:schemeClr val="dk1"/>
                </a:solidFill>
              </a:rPr>
              <a:t>52,416 observations</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Recorded at 10-minute intervals for one year</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Every observation has 9 feature columns as described </a:t>
            </a:r>
            <a:r>
              <a:rPr lang="en" sz="1400">
                <a:solidFill>
                  <a:schemeClr val="dk1"/>
                </a:solidFill>
              </a:rPr>
              <a:t>below</a:t>
            </a:r>
            <a:endParaRPr sz="1400">
              <a:solidFill>
                <a:schemeClr val="dk1"/>
              </a:solidFill>
            </a:endParaRPr>
          </a:p>
          <a:p>
            <a:pPr indent="-317500" lvl="0" marL="457200" rtl="0" algn="l">
              <a:spcBef>
                <a:spcPts val="0"/>
              </a:spcBef>
              <a:spcAft>
                <a:spcPts val="0"/>
              </a:spcAft>
              <a:buClr>
                <a:schemeClr val="dk1"/>
              </a:buClr>
              <a:buSzPts val="1400"/>
              <a:buChar char="●"/>
            </a:pPr>
            <a:r>
              <a:rPr b="1" lang="en" sz="1400">
                <a:solidFill>
                  <a:schemeClr val="dk1"/>
                </a:solidFill>
              </a:rPr>
              <a:t>Data Dictionary: </a:t>
            </a:r>
            <a:endParaRPr b="1" sz="1400">
              <a:solidFill>
                <a:schemeClr val="dk1"/>
              </a:solidFill>
            </a:endParaRPr>
          </a:p>
          <a:p>
            <a:pPr indent="-317500" lvl="1" marL="914400" rtl="0" algn="l">
              <a:spcBef>
                <a:spcPts val="0"/>
              </a:spcBef>
              <a:spcAft>
                <a:spcPts val="0"/>
              </a:spcAft>
              <a:buClr>
                <a:schemeClr val="dk1"/>
              </a:buClr>
              <a:buSzPts val="1400"/>
              <a:buChar char="○"/>
            </a:pPr>
            <a:r>
              <a:rPr b="1" lang="en">
                <a:solidFill>
                  <a:schemeClr val="dk1"/>
                </a:solidFill>
              </a:rPr>
              <a:t>Date Time: </a:t>
            </a:r>
            <a:r>
              <a:rPr lang="en">
                <a:solidFill>
                  <a:schemeClr val="dk1"/>
                </a:solidFill>
              </a:rPr>
              <a:t>Time window of ten minutes</a:t>
            </a:r>
            <a:endParaRPr>
              <a:solidFill>
                <a:schemeClr val="dk1"/>
              </a:solidFill>
            </a:endParaRPr>
          </a:p>
          <a:p>
            <a:pPr indent="-317500" lvl="1" marL="914400" rtl="0" algn="l">
              <a:spcBef>
                <a:spcPts val="0"/>
              </a:spcBef>
              <a:spcAft>
                <a:spcPts val="0"/>
              </a:spcAft>
              <a:buClr>
                <a:schemeClr val="dk1"/>
              </a:buClr>
              <a:buSzPts val="1400"/>
              <a:buChar char="○"/>
            </a:pPr>
            <a:r>
              <a:rPr b="1" lang="en">
                <a:solidFill>
                  <a:schemeClr val="dk1"/>
                </a:solidFill>
              </a:rPr>
              <a:t>Temperature: </a:t>
            </a:r>
            <a:r>
              <a:rPr lang="en">
                <a:solidFill>
                  <a:schemeClr val="dk1"/>
                </a:solidFill>
              </a:rPr>
              <a:t>Weather Temperature</a:t>
            </a:r>
            <a:endParaRPr>
              <a:solidFill>
                <a:schemeClr val="dk1"/>
              </a:solidFill>
            </a:endParaRPr>
          </a:p>
          <a:p>
            <a:pPr indent="-317500" lvl="1" marL="914400" rtl="0" algn="l">
              <a:spcBef>
                <a:spcPts val="0"/>
              </a:spcBef>
              <a:spcAft>
                <a:spcPts val="0"/>
              </a:spcAft>
              <a:buClr>
                <a:schemeClr val="dk1"/>
              </a:buClr>
              <a:buSzPts val="1400"/>
              <a:buChar char="○"/>
            </a:pPr>
            <a:r>
              <a:rPr b="1" lang="en">
                <a:solidFill>
                  <a:schemeClr val="dk1"/>
                </a:solidFill>
              </a:rPr>
              <a:t>Humidity: </a:t>
            </a:r>
            <a:r>
              <a:rPr lang="en">
                <a:solidFill>
                  <a:schemeClr val="dk1"/>
                </a:solidFill>
              </a:rPr>
              <a:t>Weather Humidity</a:t>
            </a:r>
            <a:endParaRPr>
              <a:solidFill>
                <a:schemeClr val="dk1"/>
              </a:solidFill>
            </a:endParaRPr>
          </a:p>
          <a:p>
            <a:pPr indent="-317500" lvl="1" marL="914400" rtl="0" algn="l">
              <a:spcBef>
                <a:spcPts val="0"/>
              </a:spcBef>
              <a:spcAft>
                <a:spcPts val="0"/>
              </a:spcAft>
              <a:buClr>
                <a:schemeClr val="dk1"/>
              </a:buClr>
              <a:buSzPts val="1400"/>
              <a:buChar char="○"/>
            </a:pPr>
            <a:r>
              <a:rPr b="1" lang="en">
                <a:solidFill>
                  <a:schemeClr val="dk1"/>
                </a:solidFill>
              </a:rPr>
              <a:t>Wind Speed:</a:t>
            </a:r>
            <a:r>
              <a:rPr lang="en">
                <a:solidFill>
                  <a:schemeClr val="dk1"/>
                </a:solidFill>
              </a:rPr>
              <a:t> Wind Speed</a:t>
            </a:r>
            <a:endParaRPr>
              <a:solidFill>
                <a:schemeClr val="dk1"/>
              </a:solidFill>
            </a:endParaRPr>
          </a:p>
          <a:p>
            <a:pPr indent="-317500" lvl="1" marL="914400" rtl="0" algn="l">
              <a:spcBef>
                <a:spcPts val="0"/>
              </a:spcBef>
              <a:spcAft>
                <a:spcPts val="0"/>
              </a:spcAft>
              <a:buClr>
                <a:schemeClr val="dk1"/>
              </a:buClr>
              <a:buSzPts val="1400"/>
              <a:buChar char="○"/>
            </a:pPr>
            <a:r>
              <a:rPr b="1" lang="en">
                <a:solidFill>
                  <a:schemeClr val="dk1"/>
                </a:solidFill>
              </a:rPr>
              <a:t>General Diffuse Flows: </a:t>
            </a:r>
            <a:r>
              <a:rPr lang="en">
                <a:solidFill>
                  <a:schemeClr val="dk1"/>
                </a:solidFill>
              </a:rPr>
              <a:t>describes low-temperature (&lt; 0.2° to ~ 100°C) fluids that slowly discharge through sulfide mounds, fractured lava flows, and assemblages of bacterial mats and macrofauna</a:t>
            </a:r>
            <a:endParaRPr>
              <a:solidFill>
                <a:schemeClr val="dk1"/>
              </a:solidFill>
            </a:endParaRPr>
          </a:p>
          <a:p>
            <a:pPr indent="-317500" lvl="1" marL="914400" rtl="0" algn="l">
              <a:spcBef>
                <a:spcPts val="0"/>
              </a:spcBef>
              <a:spcAft>
                <a:spcPts val="0"/>
              </a:spcAft>
              <a:buClr>
                <a:schemeClr val="dk1"/>
              </a:buClr>
              <a:buSzPts val="1400"/>
              <a:buChar char="○"/>
            </a:pPr>
            <a:r>
              <a:rPr b="1" lang="en">
                <a:solidFill>
                  <a:schemeClr val="dk1"/>
                </a:solidFill>
              </a:rPr>
              <a:t>Diffuse Flows</a:t>
            </a:r>
            <a:endParaRPr b="1">
              <a:solidFill>
                <a:schemeClr val="dk1"/>
              </a:solidFill>
            </a:endParaRPr>
          </a:p>
          <a:p>
            <a:pPr indent="-317500" lvl="1" marL="914400" rtl="0" algn="l">
              <a:spcBef>
                <a:spcPts val="0"/>
              </a:spcBef>
              <a:spcAft>
                <a:spcPts val="0"/>
              </a:spcAft>
              <a:buClr>
                <a:schemeClr val="dk1"/>
              </a:buClr>
              <a:buSzPts val="1400"/>
              <a:buChar char="○"/>
            </a:pPr>
            <a:r>
              <a:rPr b="1" lang="en">
                <a:solidFill>
                  <a:schemeClr val="dk1"/>
                </a:solidFill>
              </a:rPr>
              <a:t>Zone 1 Power Consumption</a:t>
            </a:r>
            <a:endParaRPr b="1">
              <a:solidFill>
                <a:schemeClr val="dk1"/>
              </a:solidFill>
            </a:endParaRPr>
          </a:p>
          <a:p>
            <a:pPr indent="-317500" lvl="1" marL="914400" rtl="0" algn="l">
              <a:spcBef>
                <a:spcPts val="0"/>
              </a:spcBef>
              <a:spcAft>
                <a:spcPts val="0"/>
              </a:spcAft>
              <a:buClr>
                <a:schemeClr val="dk1"/>
              </a:buClr>
              <a:buSzPts val="1400"/>
              <a:buChar char="○"/>
            </a:pPr>
            <a:r>
              <a:rPr b="1" lang="en">
                <a:solidFill>
                  <a:schemeClr val="dk1"/>
                </a:solidFill>
              </a:rPr>
              <a:t>Zone 2 Power Consumption</a:t>
            </a:r>
            <a:endParaRPr b="1">
              <a:solidFill>
                <a:schemeClr val="dk1"/>
              </a:solidFill>
            </a:endParaRPr>
          </a:p>
          <a:p>
            <a:pPr indent="-317500" lvl="1" marL="914400" rtl="0" algn="l">
              <a:spcBef>
                <a:spcPts val="0"/>
              </a:spcBef>
              <a:spcAft>
                <a:spcPts val="0"/>
              </a:spcAft>
              <a:buClr>
                <a:schemeClr val="dk1"/>
              </a:buClr>
              <a:buSzPts val="1400"/>
              <a:buChar char="○"/>
            </a:pPr>
            <a:r>
              <a:rPr b="1" lang="en">
                <a:solidFill>
                  <a:schemeClr val="dk1"/>
                </a:solidFill>
              </a:rPr>
              <a:t>Zone 3 Power Consumption</a:t>
            </a:r>
            <a:endParaRPr b="1">
              <a:solidFill>
                <a:schemeClr val="dk1"/>
              </a:solidFill>
            </a:endParaRPr>
          </a:p>
        </p:txBody>
      </p:sp>
      <p:sp>
        <p:nvSpPr>
          <p:cNvPr id="74" name="Google Shape;74;p16"/>
          <p:cNvSpPr txBox="1"/>
          <p:nvPr>
            <p:ph type="title"/>
          </p:nvPr>
        </p:nvSpPr>
        <p:spPr>
          <a:xfrm>
            <a:off x="311700" y="338538"/>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Energy Consumption Dataset</a:t>
            </a:r>
            <a:endParaRPr b="1"/>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Dataset Snapshot </a:t>
            </a:r>
            <a:endParaRPr b="1"/>
          </a:p>
        </p:txBody>
      </p:sp>
      <p:pic>
        <p:nvPicPr>
          <p:cNvPr id="80" name="Google Shape;80;p17" title="Screenshot 2025-10-13 at 17.30.34.png"/>
          <p:cNvPicPr preferRelativeResize="0"/>
          <p:nvPr/>
        </p:nvPicPr>
        <p:blipFill>
          <a:blip r:embed="rId3">
            <a:alphaModFix/>
          </a:blip>
          <a:stretch>
            <a:fillRect/>
          </a:stretch>
        </p:blipFill>
        <p:spPr>
          <a:xfrm>
            <a:off x="521613" y="1017725"/>
            <a:ext cx="8100787" cy="382097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nvSpPr>
        <p:spPr>
          <a:xfrm>
            <a:off x="269751" y="1017725"/>
            <a:ext cx="8445000" cy="17757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Char char="●"/>
            </a:pPr>
            <a:r>
              <a:rPr b="1" lang="en">
                <a:solidFill>
                  <a:schemeClr val="dk1"/>
                </a:solidFill>
              </a:rPr>
              <a:t>Tested the dataset at </a:t>
            </a:r>
            <a:r>
              <a:rPr b="1" lang="en">
                <a:solidFill>
                  <a:schemeClr val="dk1"/>
                </a:solidFill>
              </a:rPr>
              <a:t>three </a:t>
            </a:r>
            <a:r>
              <a:rPr b="1" lang="en">
                <a:solidFill>
                  <a:schemeClr val="dk1"/>
                </a:solidFill>
              </a:rPr>
              <a:t>different time frequencies</a:t>
            </a:r>
            <a:r>
              <a:rPr lang="en">
                <a:solidFill>
                  <a:schemeClr val="dk1"/>
                </a:solidFill>
              </a:rPr>
              <a:t> to select the best level for forecasting</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Daily series</a:t>
            </a:r>
            <a:r>
              <a:rPr b="1" lang="en">
                <a:solidFill>
                  <a:schemeClr val="dk1"/>
                </a:solidFill>
              </a:rPr>
              <a:t> </a:t>
            </a:r>
            <a:r>
              <a:rPr lang="en">
                <a:solidFill>
                  <a:schemeClr val="dk1"/>
                </a:solidFill>
              </a:rPr>
              <a:t>had clear autocorrelation, but weekly and monthly series showed none, with all lags falling within the confidence intervals</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Loss of autocorrelation in these time series is likely a result of aggregating averages</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In terms of stationarity, the daily and weekly series achieved stationarity after one differencing, whereas monthly required two levels of differencing</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So, </a:t>
            </a:r>
            <a:r>
              <a:rPr b="1" lang="en">
                <a:solidFill>
                  <a:schemeClr val="dk1"/>
                </a:solidFill>
              </a:rPr>
              <a:t>we proceeded with </a:t>
            </a:r>
            <a:r>
              <a:rPr b="1" lang="en" u="sng">
                <a:solidFill>
                  <a:schemeClr val="dk1"/>
                </a:solidFill>
              </a:rPr>
              <a:t>daily time series</a:t>
            </a:r>
            <a:r>
              <a:rPr b="1" lang="en">
                <a:solidFill>
                  <a:schemeClr val="dk1"/>
                </a:solidFill>
              </a:rPr>
              <a:t> for the models</a:t>
            </a:r>
            <a:endParaRPr b="1">
              <a:solidFill>
                <a:schemeClr val="dk1"/>
              </a:solidFill>
            </a:endParaRPr>
          </a:p>
        </p:txBody>
      </p:sp>
      <p:sp>
        <p:nvSpPr>
          <p:cNvPr id="86" name="Google Shape;86;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Tested Daily, Weekly, and Monthly Time Series</a:t>
            </a:r>
            <a:endParaRPr/>
          </a:p>
        </p:txBody>
      </p:sp>
      <p:pic>
        <p:nvPicPr>
          <p:cNvPr id="87" name="Google Shape;87;p18"/>
          <p:cNvPicPr preferRelativeResize="0"/>
          <p:nvPr/>
        </p:nvPicPr>
        <p:blipFill>
          <a:blip r:embed="rId3">
            <a:alphaModFix/>
          </a:blip>
          <a:stretch>
            <a:fillRect/>
          </a:stretch>
        </p:blipFill>
        <p:spPr>
          <a:xfrm>
            <a:off x="231950" y="2953675"/>
            <a:ext cx="2998063" cy="1762725"/>
          </a:xfrm>
          <a:prstGeom prst="rect">
            <a:avLst/>
          </a:prstGeom>
          <a:noFill/>
          <a:ln>
            <a:noFill/>
          </a:ln>
        </p:spPr>
      </p:pic>
      <p:pic>
        <p:nvPicPr>
          <p:cNvPr id="88" name="Google Shape;88;p18"/>
          <p:cNvPicPr preferRelativeResize="0"/>
          <p:nvPr/>
        </p:nvPicPr>
        <p:blipFill>
          <a:blip r:embed="rId4">
            <a:alphaModFix/>
          </a:blip>
          <a:stretch>
            <a:fillRect/>
          </a:stretch>
        </p:blipFill>
        <p:spPr>
          <a:xfrm>
            <a:off x="3381345" y="2953689"/>
            <a:ext cx="2738563" cy="1762697"/>
          </a:xfrm>
          <a:prstGeom prst="rect">
            <a:avLst/>
          </a:prstGeom>
          <a:noFill/>
          <a:ln>
            <a:noFill/>
          </a:ln>
        </p:spPr>
      </p:pic>
      <p:pic>
        <p:nvPicPr>
          <p:cNvPr id="89" name="Google Shape;89;p18"/>
          <p:cNvPicPr preferRelativeResize="0"/>
          <p:nvPr/>
        </p:nvPicPr>
        <p:blipFill>
          <a:blip r:embed="rId5">
            <a:alphaModFix/>
          </a:blip>
          <a:stretch>
            <a:fillRect/>
          </a:stretch>
        </p:blipFill>
        <p:spPr>
          <a:xfrm>
            <a:off x="6171585" y="3066967"/>
            <a:ext cx="2612716" cy="153614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Preparing the Dataset</a:t>
            </a:r>
            <a:endParaRPr b="1"/>
          </a:p>
        </p:txBody>
      </p:sp>
      <p:sp>
        <p:nvSpPr>
          <p:cNvPr id="95" name="Google Shape;95;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chemeClr val="dk1"/>
              </a:buClr>
              <a:buSzPts val="1400"/>
              <a:buChar char="●"/>
            </a:pPr>
            <a:r>
              <a:rPr lang="en" sz="1400">
                <a:solidFill>
                  <a:schemeClr val="dk1"/>
                </a:solidFill>
              </a:rPr>
              <a:t>To b</a:t>
            </a:r>
            <a:r>
              <a:rPr lang="en" sz="1400">
                <a:solidFill>
                  <a:schemeClr val="dk1"/>
                </a:solidFill>
              </a:rPr>
              <a:t>uild a clean, stationary daily series for forecasting:</a:t>
            </a:r>
            <a:endParaRPr sz="1400">
              <a:solidFill>
                <a:schemeClr val="dk1"/>
              </a:solidFill>
            </a:endParaRPr>
          </a:p>
          <a:p>
            <a:pPr indent="-317500" lvl="1" marL="914400" rtl="0" algn="l">
              <a:spcBef>
                <a:spcPts val="0"/>
              </a:spcBef>
              <a:spcAft>
                <a:spcPts val="0"/>
              </a:spcAft>
              <a:buClr>
                <a:schemeClr val="dk1"/>
              </a:buClr>
              <a:buSzPts val="1400"/>
              <a:buChar char="○"/>
            </a:pPr>
            <a:r>
              <a:rPr b="1" lang="en">
                <a:solidFill>
                  <a:schemeClr val="dk1"/>
                </a:solidFill>
              </a:rPr>
              <a:t>Converted Date Time</a:t>
            </a:r>
            <a:r>
              <a:rPr lang="en">
                <a:solidFill>
                  <a:schemeClr val="dk1"/>
                </a:solidFill>
              </a:rPr>
              <a:t> </a:t>
            </a:r>
            <a:r>
              <a:rPr b="1" lang="en">
                <a:solidFill>
                  <a:schemeClr val="dk1"/>
                </a:solidFill>
              </a:rPr>
              <a:t>to a datetime object</a:t>
            </a:r>
            <a:r>
              <a:rPr lang="en">
                <a:solidFill>
                  <a:schemeClr val="dk1"/>
                </a:solidFill>
              </a:rPr>
              <a:t> and set it as the index</a:t>
            </a:r>
            <a:endParaRPr>
              <a:solidFill>
                <a:schemeClr val="dk1"/>
              </a:solidFill>
            </a:endParaRPr>
          </a:p>
          <a:p>
            <a:pPr indent="-317500" lvl="1" marL="914400" rtl="0" algn="l">
              <a:spcBef>
                <a:spcPts val="0"/>
              </a:spcBef>
              <a:spcAft>
                <a:spcPts val="0"/>
              </a:spcAft>
              <a:buClr>
                <a:schemeClr val="dk1"/>
              </a:buClr>
              <a:buSzPts val="1400"/>
              <a:buChar char="○"/>
            </a:pPr>
            <a:r>
              <a:rPr b="1" lang="en">
                <a:solidFill>
                  <a:schemeClr val="dk1"/>
                </a:solidFill>
              </a:rPr>
              <a:t>Resampled</a:t>
            </a:r>
            <a:r>
              <a:rPr lang="en">
                <a:solidFill>
                  <a:schemeClr val="dk1"/>
                </a:solidFill>
              </a:rPr>
              <a:t> 10-minute readings into daily averages</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Ran our </a:t>
            </a:r>
            <a:r>
              <a:rPr b="1" lang="en">
                <a:solidFill>
                  <a:schemeClr val="dk1"/>
                </a:solidFill>
              </a:rPr>
              <a:t>first</a:t>
            </a:r>
            <a:r>
              <a:rPr b="1" lang="en">
                <a:solidFill>
                  <a:schemeClr val="dk1"/>
                </a:solidFill>
              </a:rPr>
              <a:t> ADF test</a:t>
            </a:r>
            <a:r>
              <a:rPr lang="en">
                <a:solidFill>
                  <a:schemeClr val="dk1"/>
                </a:solidFill>
              </a:rPr>
              <a:t> on the daily series, and found our data was </a:t>
            </a:r>
            <a:r>
              <a:rPr b="1" lang="en">
                <a:solidFill>
                  <a:schemeClr val="dk1"/>
                </a:solidFill>
              </a:rPr>
              <a:t>non-stationary </a:t>
            </a:r>
            <a:endParaRPr b="1">
              <a:solidFill>
                <a:schemeClr val="dk1"/>
              </a:solidFill>
            </a:endParaRPr>
          </a:p>
          <a:p>
            <a:pPr indent="-317500" lvl="1" marL="914400" rtl="0" algn="l">
              <a:spcBef>
                <a:spcPts val="0"/>
              </a:spcBef>
              <a:spcAft>
                <a:spcPts val="0"/>
              </a:spcAft>
              <a:buClr>
                <a:schemeClr val="dk1"/>
              </a:buClr>
              <a:buSzPts val="1400"/>
              <a:buChar char="○"/>
            </a:pPr>
            <a:r>
              <a:rPr b="1" lang="en">
                <a:solidFill>
                  <a:schemeClr val="dk1"/>
                </a:solidFill>
              </a:rPr>
              <a:t>Applied first differencing</a:t>
            </a:r>
            <a:r>
              <a:rPr lang="en">
                <a:solidFill>
                  <a:schemeClr val="dk1"/>
                </a:solidFill>
              </a:rPr>
              <a:t> (d = 1) to smooth the data and remove potential trends</a:t>
            </a:r>
            <a:endParaRPr>
              <a:solidFill>
                <a:schemeClr val="dk1"/>
              </a:solidFill>
            </a:endParaRPr>
          </a:p>
          <a:p>
            <a:pPr indent="-317500" lvl="1" marL="914400" rtl="0" algn="l">
              <a:spcBef>
                <a:spcPts val="0"/>
              </a:spcBef>
              <a:spcAft>
                <a:spcPts val="0"/>
              </a:spcAft>
              <a:buClr>
                <a:schemeClr val="dk1"/>
              </a:buClr>
              <a:buSzPts val="1400"/>
              <a:buChar char="○"/>
            </a:pPr>
            <a:r>
              <a:rPr b="1" lang="en">
                <a:solidFill>
                  <a:schemeClr val="dk1"/>
                </a:solidFill>
              </a:rPr>
              <a:t>Reran the ADF test</a:t>
            </a:r>
            <a:r>
              <a:rPr lang="en">
                <a:solidFill>
                  <a:schemeClr val="dk1"/>
                </a:solidFill>
              </a:rPr>
              <a:t>, which returned </a:t>
            </a:r>
            <a:r>
              <a:rPr b="1" lang="en">
                <a:solidFill>
                  <a:schemeClr val="dk1"/>
                </a:solidFill>
              </a:rPr>
              <a:t>“Stationary”, which indicated our data was now suitable for AR/MA/ARIMA modeling</a:t>
            </a:r>
            <a:endParaRPr b="1">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txBox="1"/>
          <p:nvPr>
            <p:ph type="title"/>
          </p:nvPr>
        </p:nvSpPr>
        <p:spPr>
          <a:xfrm>
            <a:off x="311700" y="338538"/>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ACF and PACF Models</a:t>
            </a:r>
            <a:endParaRPr b="1"/>
          </a:p>
        </p:txBody>
      </p:sp>
      <p:pic>
        <p:nvPicPr>
          <p:cNvPr id="101" name="Google Shape;101;p20"/>
          <p:cNvPicPr preferRelativeResize="0"/>
          <p:nvPr/>
        </p:nvPicPr>
        <p:blipFill>
          <a:blip r:embed="rId3">
            <a:alphaModFix/>
          </a:blip>
          <a:stretch>
            <a:fillRect/>
          </a:stretch>
        </p:blipFill>
        <p:spPr>
          <a:xfrm>
            <a:off x="459975" y="1405925"/>
            <a:ext cx="4178087" cy="3337400"/>
          </a:xfrm>
          <a:prstGeom prst="rect">
            <a:avLst/>
          </a:prstGeom>
          <a:noFill/>
          <a:ln>
            <a:noFill/>
          </a:ln>
        </p:spPr>
      </p:pic>
      <p:cxnSp>
        <p:nvCxnSpPr>
          <p:cNvPr id="102" name="Google Shape;102;p20"/>
          <p:cNvCxnSpPr/>
          <p:nvPr/>
        </p:nvCxnSpPr>
        <p:spPr>
          <a:xfrm flipH="1">
            <a:off x="1749250" y="930950"/>
            <a:ext cx="3525600" cy="885300"/>
          </a:xfrm>
          <a:prstGeom prst="straightConnector1">
            <a:avLst/>
          </a:prstGeom>
          <a:noFill/>
          <a:ln cap="flat" cmpd="sng" w="9525">
            <a:solidFill>
              <a:srgbClr val="FF0000"/>
            </a:solidFill>
            <a:prstDash val="solid"/>
            <a:round/>
            <a:headEnd len="med" w="med" type="none"/>
            <a:tailEnd len="med" w="med" type="triangle"/>
          </a:ln>
        </p:spPr>
      </p:cxnSp>
      <p:sp>
        <p:nvSpPr>
          <p:cNvPr id="103" name="Google Shape;103;p20"/>
          <p:cNvSpPr txBox="1"/>
          <p:nvPr/>
        </p:nvSpPr>
        <p:spPr>
          <a:xfrm>
            <a:off x="5243200" y="730725"/>
            <a:ext cx="3671400" cy="307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chemeClr val="dk1"/>
                </a:solidFill>
              </a:rPr>
              <a:t>Interpretation of Plots:</a:t>
            </a:r>
            <a:endParaRPr b="1"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The </a:t>
            </a:r>
            <a:r>
              <a:rPr b="1" lang="en" sz="1100">
                <a:solidFill>
                  <a:schemeClr val="dk1"/>
                </a:solidFill>
              </a:rPr>
              <a:t>ACF</a:t>
            </a:r>
            <a:r>
              <a:rPr lang="en" sz="1100">
                <a:solidFill>
                  <a:schemeClr val="dk1"/>
                </a:solidFill>
              </a:rPr>
              <a:t> plot shows spikes at lag 7, 14, and 21, indicating a repeating pattern every 7 time periods (likely a weekly seasonal cycle)</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The </a:t>
            </a:r>
            <a:r>
              <a:rPr b="1" lang="en" sz="1100">
                <a:solidFill>
                  <a:schemeClr val="dk1"/>
                </a:solidFill>
              </a:rPr>
              <a:t>PACF</a:t>
            </a:r>
            <a:r>
              <a:rPr lang="en" sz="1100">
                <a:solidFill>
                  <a:schemeClr val="dk1"/>
                </a:solidFill>
              </a:rPr>
              <a:t> plot also shows a spike at lag 7 before values taper off, further implying that the autoregressive relationship repeats weekly</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Therefore, we chose to </a:t>
            </a:r>
            <a:r>
              <a:rPr b="1" lang="en" sz="1100">
                <a:solidFill>
                  <a:schemeClr val="dk1"/>
                </a:solidFill>
              </a:rPr>
              <a:t>use a lag of 7</a:t>
            </a:r>
            <a:r>
              <a:rPr lang="en" sz="1100">
                <a:solidFill>
                  <a:schemeClr val="dk1"/>
                </a:solidFill>
              </a:rPr>
              <a:t> for both our MA and AR model to capture this weekly dependence</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b="1" lang="en" sz="1100">
                <a:solidFill>
                  <a:schemeClr val="dk1"/>
                </a:solidFill>
              </a:rPr>
              <a:t>Model:</a:t>
            </a:r>
            <a:endParaRPr b="1"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The model uses </a:t>
            </a:r>
            <a:r>
              <a:rPr b="1" lang="en" sz="1100">
                <a:solidFill>
                  <a:schemeClr val="dk1"/>
                </a:solidFill>
              </a:rPr>
              <a:t>p = 7 and q = 7</a:t>
            </a:r>
            <a:r>
              <a:rPr lang="en" sz="1100">
                <a:solidFill>
                  <a:schemeClr val="dk1"/>
                </a:solidFill>
              </a:rPr>
              <a:t>, capturing both autoregressive and moving-average dependencies over a weekly cycle</a:t>
            </a:r>
            <a:endParaRPr sz="1100">
              <a:solidFill>
                <a:schemeClr val="dk1"/>
              </a:solidFill>
            </a:endParaRPr>
          </a:p>
        </p:txBody>
      </p:sp>
      <p:cxnSp>
        <p:nvCxnSpPr>
          <p:cNvPr id="104" name="Google Shape;104;p20"/>
          <p:cNvCxnSpPr/>
          <p:nvPr/>
        </p:nvCxnSpPr>
        <p:spPr>
          <a:xfrm flipH="1">
            <a:off x="1768750" y="930950"/>
            <a:ext cx="3506100" cy="2640600"/>
          </a:xfrm>
          <a:prstGeom prst="straightConnector1">
            <a:avLst/>
          </a:prstGeom>
          <a:noFill/>
          <a:ln cap="flat" cmpd="sng" w="9525">
            <a:solidFill>
              <a:srgbClr val="FF0000"/>
            </a:solidFill>
            <a:prstDash val="solid"/>
            <a:round/>
            <a:headEnd len="med" w="med"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Autoregressive (AR) Model </a:t>
            </a:r>
            <a:endParaRPr b="1"/>
          </a:p>
          <a:p>
            <a:pPr indent="0" lvl="0" marL="0" rtl="0" algn="l">
              <a:spcBef>
                <a:spcPts val="0"/>
              </a:spcBef>
              <a:spcAft>
                <a:spcPts val="0"/>
              </a:spcAft>
              <a:buNone/>
            </a:pPr>
            <a:r>
              <a:rPr b="1" lang="en"/>
              <a:t> </a:t>
            </a:r>
            <a:endParaRPr b="1"/>
          </a:p>
        </p:txBody>
      </p:sp>
      <p:pic>
        <p:nvPicPr>
          <p:cNvPr id="110" name="Google Shape;110;p21"/>
          <p:cNvPicPr preferRelativeResize="0"/>
          <p:nvPr/>
        </p:nvPicPr>
        <p:blipFill>
          <a:blip r:embed="rId3">
            <a:alphaModFix/>
          </a:blip>
          <a:stretch>
            <a:fillRect/>
          </a:stretch>
        </p:blipFill>
        <p:spPr>
          <a:xfrm>
            <a:off x="72450" y="2295063"/>
            <a:ext cx="5842250" cy="2407651"/>
          </a:xfrm>
          <a:prstGeom prst="rect">
            <a:avLst/>
          </a:prstGeom>
          <a:noFill/>
          <a:ln>
            <a:noFill/>
          </a:ln>
        </p:spPr>
      </p:pic>
      <p:sp>
        <p:nvSpPr>
          <p:cNvPr id="111" name="Google Shape;111;p21"/>
          <p:cNvSpPr txBox="1"/>
          <p:nvPr>
            <p:ph idx="1" type="body"/>
          </p:nvPr>
        </p:nvSpPr>
        <p:spPr>
          <a:xfrm>
            <a:off x="311700" y="917175"/>
            <a:ext cx="8520600" cy="1377900"/>
          </a:xfrm>
          <a:prstGeom prst="rect">
            <a:avLst/>
          </a:prstGeom>
        </p:spPr>
        <p:txBody>
          <a:bodyPr anchorCtr="0" anchor="t" bIns="91425" lIns="91425" spcFirstLastPara="1" rIns="91425" wrap="square" tIns="91425">
            <a:noAutofit/>
          </a:bodyPr>
          <a:lstStyle/>
          <a:p>
            <a:pPr indent="-310515" lvl="0" marL="457200" rtl="0" algn="l">
              <a:lnSpc>
                <a:spcPct val="105000"/>
              </a:lnSpc>
              <a:spcBef>
                <a:spcPts val="0"/>
              </a:spcBef>
              <a:spcAft>
                <a:spcPts val="0"/>
              </a:spcAft>
              <a:buClr>
                <a:srgbClr val="000000"/>
              </a:buClr>
              <a:buSzPts val="1290"/>
              <a:buChar char="●"/>
            </a:pPr>
            <a:r>
              <a:rPr lang="en" sz="1290">
                <a:solidFill>
                  <a:srgbClr val="000000"/>
                </a:solidFill>
                <a:highlight>
                  <a:schemeClr val="lt1"/>
                </a:highlight>
              </a:rPr>
              <a:t>We fitted an AR(7) model to Zone 2 power consumption</a:t>
            </a:r>
            <a:endParaRPr sz="1290">
              <a:solidFill>
                <a:srgbClr val="000000"/>
              </a:solidFill>
              <a:highlight>
                <a:schemeClr val="lt1"/>
              </a:highlight>
            </a:endParaRPr>
          </a:p>
          <a:p>
            <a:pPr indent="-310515" lvl="0" marL="457200" rtl="0" algn="l">
              <a:lnSpc>
                <a:spcPct val="105000"/>
              </a:lnSpc>
              <a:spcBef>
                <a:spcPts val="0"/>
              </a:spcBef>
              <a:spcAft>
                <a:spcPts val="0"/>
              </a:spcAft>
              <a:buClr>
                <a:srgbClr val="000000"/>
              </a:buClr>
              <a:buSzPts val="1290"/>
              <a:buChar char="●"/>
            </a:pPr>
            <a:r>
              <a:rPr lang="en" sz="1290">
                <a:solidFill>
                  <a:srgbClr val="000000"/>
                </a:solidFill>
                <a:highlight>
                  <a:schemeClr val="lt1"/>
                </a:highlight>
              </a:rPr>
              <a:t>Model </a:t>
            </a:r>
            <a:r>
              <a:rPr lang="en" sz="1290">
                <a:solidFill>
                  <a:srgbClr val="000000"/>
                </a:solidFill>
                <a:highlight>
                  <a:schemeClr val="lt1"/>
                </a:highlight>
              </a:rPr>
              <a:t>captured overall patterns in the training data, but </a:t>
            </a:r>
            <a:r>
              <a:rPr lang="en" sz="1290">
                <a:solidFill>
                  <a:srgbClr val="000000"/>
                </a:solidFill>
                <a:highlight>
                  <a:schemeClr val="lt1"/>
                </a:highlight>
              </a:rPr>
              <a:t>forecasted a flatten out for the test </a:t>
            </a:r>
            <a:r>
              <a:rPr lang="en" sz="1290">
                <a:solidFill>
                  <a:srgbClr val="000000"/>
                </a:solidFill>
                <a:highlight>
                  <a:schemeClr val="lt1"/>
                </a:highlight>
              </a:rPr>
              <a:t>period, which suggests a limited ability to follow the daily fluctuations</a:t>
            </a:r>
            <a:endParaRPr sz="1290">
              <a:solidFill>
                <a:srgbClr val="000000"/>
              </a:solidFill>
              <a:highlight>
                <a:schemeClr val="lt1"/>
              </a:highlight>
            </a:endParaRPr>
          </a:p>
          <a:p>
            <a:pPr indent="-310515" lvl="1" marL="914400" rtl="0" algn="l">
              <a:lnSpc>
                <a:spcPct val="105000"/>
              </a:lnSpc>
              <a:spcBef>
                <a:spcPts val="0"/>
              </a:spcBef>
              <a:spcAft>
                <a:spcPts val="0"/>
              </a:spcAft>
              <a:buClr>
                <a:srgbClr val="000000"/>
              </a:buClr>
              <a:buSzPts val="1290"/>
              <a:buChar char="○"/>
            </a:pPr>
            <a:r>
              <a:rPr lang="en" sz="1290">
                <a:solidFill>
                  <a:srgbClr val="000000"/>
                </a:solidFill>
                <a:highlight>
                  <a:schemeClr val="lt1"/>
                </a:highlight>
              </a:rPr>
              <a:t>Seasonal or external drivers are likely not captured by lag terms alone</a:t>
            </a:r>
            <a:endParaRPr sz="1290">
              <a:solidFill>
                <a:srgbClr val="000000"/>
              </a:solidFill>
              <a:highlight>
                <a:schemeClr val="lt1"/>
              </a:highlight>
            </a:endParaRPr>
          </a:p>
          <a:p>
            <a:pPr indent="-310515" lvl="0" marL="457200" rtl="0" algn="l">
              <a:lnSpc>
                <a:spcPct val="105000"/>
              </a:lnSpc>
              <a:spcBef>
                <a:spcPts val="0"/>
              </a:spcBef>
              <a:spcAft>
                <a:spcPts val="0"/>
              </a:spcAft>
              <a:buClr>
                <a:srgbClr val="000000"/>
              </a:buClr>
              <a:buSzPts val="1290"/>
              <a:buChar char="●"/>
            </a:pPr>
            <a:r>
              <a:rPr lang="en" sz="1290">
                <a:solidFill>
                  <a:srgbClr val="000000"/>
                </a:solidFill>
                <a:highlight>
                  <a:schemeClr val="lt1"/>
                </a:highlight>
              </a:rPr>
              <a:t>Looking at coefficients, </a:t>
            </a:r>
            <a:r>
              <a:rPr lang="en" sz="1290">
                <a:solidFill>
                  <a:srgbClr val="000000"/>
                </a:solidFill>
                <a:highlight>
                  <a:schemeClr val="lt1"/>
                </a:highlight>
              </a:rPr>
              <a:t>Lag 1 showed that yesterday’s power usage had a strong influence on today’s</a:t>
            </a:r>
            <a:endParaRPr sz="1290">
              <a:solidFill>
                <a:srgbClr val="000000"/>
              </a:solidFill>
              <a:highlight>
                <a:schemeClr val="lt1"/>
              </a:highlight>
            </a:endParaRPr>
          </a:p>
          <a:p>
            <a:pPr indent="-310515" lvl="0" marL="457200" rtl="0" algn="l">
              <a:lnSpc>
                <a:spcPct val="105000"/>
              </a:lnSpc>
              <a:spcBef>
                <a:spcPts val="0"/>
              </a:spcBef>
              <a:spcAft>
                <a:spcPts val="0"/>
              </a:spcAft>
              <a:buClr>
                <a:srgbClr val="000000"/>
              </a:buClr>
              <a:buSzPts val="1290"/>
              <a:buChar char="●"/>
            </a:pPr>
            <a:r>
              <a:rPr lang="en" sz="1290">
                <a:solidFill>
                  <a:srgbClr val="000000"/>
                </a:solidFill>
                <a:highlight>
                  <a:schemeClr val="lt1"/>
                </a:highlight>
              </a:rPr>
              <a:t>Looking at p-values, Lags 1 and 7 were statistically significant (p &lt; 0.05)</a:t>
            </a:r>
            <a:endParaRPr sz="1290">
              <a:solidFill>
                <a:srgbClr val="000000"/>
              </a:solidFill>
              <a:highlight>
                <a:schemeClr val="lt1"/>
              </a:highlight>
            </a:endParaRPr>
          </a:p>
        </p:txBody>
      </p:sp>
      <p:pic>
        <p:nvPicPr>
          <p:cNvPr id="112" name="Google Shape;112;p21" title="Screenshot 2025-10-14 at 12.45.11 PM.png"/>
          <p:cNvPicPr preferRelativeResize="0"/>
          <p:nvPr/>
        </p:nvPicPr>
        <p:blipFill>
          <a:blip r:embed="rId4">
            <a:alphaModFix/>
          </a:blip>
          <a:stretch>
            <a:fillRect/>
          </a:stretch>
        </p:blipFill>
        <p:spPr>
          <a:xfrm>
            <a:off x="5914705" y="2343450"/>
            <a:ext cx="3085844" cy="21399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b="1" lang="en"/>
              <a:t>Moving Average (MA) Model</a:t>
            </a:r>
            <a:endParaRPr b="1"/>
          </a:p>
          <a:p>
            <a:pPr indent="0" lvl="0" marL="0" rtl="0" algn="l">
              <a:spcBef>
                <a:spcPts val="0"/>
              </a:spcBef>
              <a:spcAft>
                <a:spcPts val="0"/>
              </a:spcAft>
              <a:buClr>
                <a:schemeClr val="dk1"/>
              </a:buClr>
              <a:buSzPct val="39286"/>
              <a:buFont typeface="Arial"/>
              <a:buNone/>
            </a:pPr>
            <a:r>
              <a:rPr b="1" lang="en"/>
              <a:t> </a:t>
            </a:r>
            <a:endParaRPr b="1"/>
          </a:p>
          <a:p>
            <a:pPr indent="0" lvl="0" marL="0" rtl="0" algn="l">
              <a:spcBef>
                <a:spcPts val="0"/>
              </a:spcBef>
              <a:spcAft>
                <a:spcPts val="0"/>
              </a:spcAft>
              <a:buNone/>
            </a:pPr>
            <a:r>
              <a:t/>
            </a:r>
            <a:endParaRPr b="1"/>
          </a:p>
        </p:txBody>
      </p:sp>
      <p:sp>
        <p:nvSpPr>
          <p:cNvPr id="118" name="Google Shape;118;p22"/>
          <p:cNvSpPr txBox="1"/>
          <p:nvPr>
            <p:ph idx="1" type="body"/>
          </p:nvPr>
        </p:nvSpPr>
        <p:spPr>
          <a:xfrm>
            <a:off x="276450" y="931275"/>
            <a:ext cx="8591100" cy="1589100"/>
          </a:xfrm>
          <a:prstGeom prst="rect">
            <a:avLst/>
          </a:prstGeom>
        </p:spPr>
        <p:txBody>
          <a:bodyPr anchorCtr="0" anchor="t" bIns="91425" lIns="91425" spcFirstLastPara="1" rIns="91425" wrap="square" tIns="91425">
            <a:noAutofit/>
          </a:bodyPr>
          <a:lstStyle/>
          <a:p>
            <a:pPr indent="-307975" lvl="0" marL="457200" rtl="0" algn="l">
              <a:spcBef>
                <a:spcPts val="0"/>
              </a:spcBef>
              <a:spcAft>
                <a:spcPts val="0"/>
              </a:spcAft>
              <a:buClr>
                <a:schemeClr val="dk1"/>
              </a:buClr>
              <a:buSzPts val="1250"/>
              <a:buChar char="●"/>
            </a:pPr>
            <a:r>
              <a:rPr lang="en" sz="1250">
                <a:solidFill>
                  <a:srgbClr val="000000"/>
                </a:solidFill>
                <a:highlight>
                  <a:schemeClr val="lt1"/>
                </a:highlight>
              </a:rPr>
              <a:t>We fitted an MA(7) model to Zone 2 power consumption</a:t>
            </a:r>
            <a:endParaRPr sz="1250">
              <a:solidFill>
                <a:srgbClr val="000000"/>
              </a:solidFill>
              <a:highlight>
                <a:schemeClr val="lt1"/>
              </a:highlight>
            </a:endParaRPr>
          </a:p>
          <a:p>
            <a:pPr indent="-307975" lvl="0" marL="457200" rtl="0" algn="l">
              <a:spcBef>
                <a:spcPts val="0"/>
              </a:spcBef>
              <a:spcAft>
                <a:spcPts val="0"/>
              </a:spcAft>
              <a:buClr>
                <a:schemeClr val="dk1"/>
              </a:buClr>
              <a:buSzPts val="1250"/>
              <a:buChar char="●"/>
            </a:pPr>
            <a:r>
              <a:rPr lang="en" sz="1250">
                <a:solidFill>
                  <a:srgbClr val="000000"/>
                </a:solidFill>
                <a:highlight>
                  <a:schemeClr val="lt1"/>
                </a:highlight>
              </a:rPr>
              <a:t>The model captures short-term fluctuations but flattens predictions over time</a:t>
            </a:r>
            <a:endParaRPr sz="1250">
              <a:solidFill>
                <a:srgbClr val="000000"/>
              </a:solidFill>
              <a:highlight>
                <a:schemeClr val="lt1"/>
              </a:highlight>
            </a:endParaRPr>
          </a:p>
          <a:p>
            <a:pPr indent="-307975" lvl="0" marL="457200" rtl="0" algn="l">
              <a:spcBef>
                <a:spcPts val="0"/>
              </a:spcBef>
              <a:spcAft>
                <a:spcPts val="0"/>
              </a:spcAft>
              <a:buClr>
                <a:schemeClr val="dk1"/>
              </a:buClr>
              <a:buSzPts val="1250"/>
              <a:buChar char="●"/>
            </a:pPr>
            <a:r>
              <a:rPr lang="en" sz="1250">
                <a:solidFill>
                  <a:srgbClr val="000000"/>
                </a:solidFill>
                <a:highlight>
                  <a:schemeClr val="lt1"/>
                </a:highlight>
              </a:rPr>
              <a:t>Most coefficients (lags 1, 2, 4, 5) are negative and statistically significant (p &lt; 0.05), which suggests short-term fluctuations in consumption are followed by corrections in the opposite direction</a:t>
            </a:r>
            <a:endParaRPr sz="1250">
              <a:solidFill>
                <a:srgbClr val="000000"/>
              </a:solidFill>
              <a:highlight>
                <a:schemeClr val="lt1"/>
              </a:highlight>
            </a:endParaRPr>
          </a:p>
          <a:p>
            <a:pPr indent="-307975" lvl="1" marL="914400" rtl="0" algn="l">
              <a:spcBef>
                <a:spcPts val="0"/>
              </a:spcBef>
              <a:spcAft>
                <a:spcPts val="0"/>
              </a:spcAft>
              <a:buSzPts val="1250"/>
              <a:buChar char="○"/>
            </a:pPr>
            <a:r>
              <a:rPr lang="en" sz="1250">
                <a:solidFill>
                  <a:srgbClr val="000000"/>
                </a:solidFill>
                <a:highlight>
                  <a:schemeClr val="lt1"/>
                </a:highlight>
              </a:rPr>
              <a:t>High consumption one day is balanced by lower consumption. We found this to be reasonable as energy usage naturally fluctuates day to day — people don’t consume the same amount of electricity daily</a:t>
            </a:r>
            <a:endParaRPr sz="1250">
              <a:solidFill>
                <a:srgbClr val="000000"/>
              </a:solidFill>
              <a:highlight>
                <a:schemeClr val="lt1"/>
              </a:highlight>
            </a:endParaRPr>
          </a:p>
          <a:p>
            <a:pPr indent="-307975" lvl="0" marL="457200" rtl="0" algn="l">
              <a:spcBef>
                <a:spcPts val="0"/>
              </a:spcBef>
              <a:spcAft>
                <a:spcPts val="0"/>
              </a:spcAft>
              <a:buClr>
                <a:schemeClr val="dk1"/>
              </a:buClr>
              <a:buSzPts val="1250"/>
              <a:buChar char="●"/>
            </a:pPr>
            <a:r>
              <a:rPr lang="en" sz="1250">
                <a:solidFill>
                  <a:srgbClr val="000000"/>
                </a:solidFill>
                <a:highlight>
                  <a:schemeClr val="lt1"/>
                </a:highlight>
              </a:rPr>
              <a:t>Lag 7 has a positive and significant coefficient, indicating a weekly cycle, where consumption patterns repeat roughly every seven days</a:t>
            </a:r>
            <a:endParaRPr sz="1250">
              <a:solidFill>
                <a:srgbClr val="000000"/>
              </a:solidFill>
              <a:highlight>
                <a:schemeClr val="lt1"/>
              </a:highlight>
            </a:endParaRPr>
          </a:p>
        </p:txBody>
      </p:sp>
      <p:pic>
        <p:nvPicPr>
          <p:cNvPr id="119" name="Google Shape;119;p22"/>
          <p:cNvPicPr preferRelativeResize="0"/>
          <p:nvPr/>
        </p:nvPicPr>
        <p:blipFill>
          <a:blip r:embed="rId3">
            <a:alphaModFix/>
          </a:blip>
          <a:stretch>
            <a:fillRect/>
          </a:stretch>
        </p:blipFill>
        <p:spPr>
          <a:xfrm>
            <a:off x="477525" y="2846450"/>
            <a:ext cx="5107676" cy="2143250"/>
          </a:xfrm>
          <a:prstGeom prst="rect">
            <a:avLst/>
          </a:prstGeom>
          <a:noFill/>
          <a:ln>
            <a:noFill/>
          </a:ln>
        </p:spPr>
      </p:pic>
      <p:pic>
        <p:nvPicPr>
          <p:cNvPr id="120" name="Google Shape;120;p22" title="Screenshot 2025-10-14 at 12.47.38 PM.png"/>
          <p:cNvPicPr preferRelativeResize="0"/>
          <p:nvPr/>
        </p:nvPicPr>
        <p:blipFill>
          <a:blip r:embed="rId4">
            <a:alphaModFix/>
          </a:blip>
          <a:stretch>
            <a:fillRect/>
          </a:stretch>
        </p:blipFill>
        <p:spPr>
          <a:xfrm>
            <a:off x="5643775" y="2890050"/>
            <a:ext cx="3188524" cy="20996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b="1" lang="en"/>
              <a:t>Autoregressive Integrated Moving Average (ARIMA) </a:t>
            </a:r>
            <a:endParaRPr b="1"/>
          </a:p>
          <a:p>
            <a:pPr indent="0" lvl="0" marL="0" rtl="0" algn="l">
              <a:spcBef>
                <a:spcPts val="0"/>
              </a:spcBef>
              <a:spcAft>
                <a:spcPts val="0"/>
              </a:spcAft>
              <a:buClr>
                <a:schemeClr val="dk1"/>
              </a:buClr>
              <a:buSzPct val="39286"/>
              <a:buFont typeface="Arial"/>
              <a:buNone/>
            </a:pPr>
            <a:r>
              <a:rPr b="1" lang="en"/>
              <a:t> </a:t>
            </a:r>
            <a:endParaRPr b="1"/>
          </a:p>
          <a:p>
            <a:pPr indent="0" lvl="0" marL="0" rtl="0" algn="l">
              <a:spcBef>
                <a:spcPts val="0"/>
              </a:spcBef>
              <a:spcAft>
                <a:spcPts val="0"/>
              </a:spcAft>
              <a:buNone/>
            </a:pPr>
            <a:r>
              <a:t/>
            </a:r>
            <a:endParaRPr b="1"/>
          </a:p>
        </p:txBody>
      </p:sp>
      <p:sp>
        <p:nvSpPr>
          <p:cNvPr id="126" name="Google Shape;126;p23"/>
          <p:cNvSpPr txBox="1"/>
          <p:nvPr>
            <p:ph idx="1" type="body"/>
          </p:nvPr>
        </p:nvSpPr>
        <p:spPr>
          <a:xfrm>
            <a:off x="249825" y="1017725"/>
            <a:ext cx="8424900" cy="1093500"/>
          </a:xfrm>
          <a:prstGeom prst="rect">
            <a:avLst/>
          </a:prstGeom>
        </p:spPr>
        <p:txBody>
          <a:bodyPr anchorCtr="0" anchor="t" bIns="91425" lIns="91425" spcFirstLastPara="1" rIns="91425" wrap="square" tIns="91425">
            <a:noAutofit/>
          </a:bodyPr>
          <a:lstStyle/>
          <a:p>
            <a:pPr indent="-307975" lvl="0" marL="457200" rtl="0" algn="l">
              <a:spcBef>
                <a:spcPts val="0"/>
              </a:spcBef>
              <a:spcAft>
                <a:spcPts val="0"/>
              </a:spcAft>
              <a:buClr>
                <a:schemeClr val="dk1"/>
              </a:buClr>
              <a:buSzPts val="1250"/>
              <a:buChar char="●"/>
            </a:pPr>
            <a:r>
              <a:rPr lang="en" sz="1250">
                <a:solidFill>
                  <a:schemeClr val="dk1"/>
                </a:solidFill>
                <a:highlight>
                  <a:schemeClr val="lt1"/>
                </a:highlight>
              </a:rPr>
              <a:t>The ARIMA </a:t>
            </a:r>
            <a:r>
              <a:rPr lang="en" sz="1250">
                <a:solidFill>
                  <a:schemeClr val="dk1"/>
                </a:solidFill>
                <a:highlight>
                  <a:schemeClr val="lt1"/>
                </a:highlight>
              </a:rPr>
              <a:t>model</a:t>
            </a:r>
            <a:r>
              <a:rPr lang="en" sz="1250">
                <a:solidFill>
                  <a:schemeClr val="dk1"/>
                </a:solidFill>
                <a:highlight>
                  <a:schemeClr val="lt1"/>
                </a:highlight>
              </a:rPr>
              <a:t> forecasts follow the overall weekly rhythm but remains smoother than actual consumption</a:t>
            </a:r>
            <a:endParaRPr sz="1250">
              <a:solidFill>
                <a:schemeClr val="dk1"/>
              </a:solidFill>
              <a:highlight>
                <a:schemeClr val="lt1"/>
              </a:highlight>
            </a:endParaRPr>
          </a:p>
          <a:p>
            <a:pPr indent="-307975" lvl="0" marL="457200" rtl="0" algn="l">
              <a:spcBef>
                <a:spcPts val="0"/>
              </a:spcBef>
              <a:spcAft>
                <a:spcPts val="0"/>
              </a:spcAft>
              <a:buClr>
                <a:schemeClr val="dk1"/>
              </a:buClr>
              <a:buSzPts val="1250"/>
              <a:buChar char="●"/>
            </a:pPr>
            <a:r>
              <a:rPr lang="en" sz="1250">
                <a:solidFill>
                  <a:schemeClr val="dk1"/>
                </a:solidFill>
                <a:highlight>
                  <a:schemeClr val="lt1"/>
                </a:highlight>
              </a:rPr>
              <a:t>It captures cyclical trends but underestimates fluctuations, which is normal when data has high daily variability</a:t>
            </a:r>
            <a:endParaRPr sz="1250">
              <a:solidFill>
                <a:schemeClr val="dk1"/>
              </a:solidFill>
              <a:highlight>
                <a:schemeClr val="lt1"/>
              </a:highlight>
            </a:endParaRPr>
          </a:p>
          <a:p>
            <a:pPr indent="-307975" lvl="0" marL="457200" rtl="0" algn="l">
              <a:spcBef>
                <a:spcPts val="0"/>
              </a:spcBef>
              <a:spcAft>
                <a:spcPts val="0"/>
              </a:spcAft>
              <a:buClr>
                <a:schemeClr val="dk1"/>
              </a:buClr>
              <a:buSzPts val="1250"/>
              <a:buChar char="●"/>
            </a:pPr>
            <a:r>
              <a:rPr lang="en" sz="1250">
                <a:solidFill>
                  <a:schemeClr val="dk1"/>
                </a:solidFill>
                <a:highlight>
                  <a:schemeClr val="lt1"/>
                </a:highlight>
              </a:rPr>
              <a:t>Consistent with the AR and MA models discussed previously, AR(7) and MA(7) terms are statistically significant (p&lt;0.05)</a:t>
            </a:r>
            <a:endParaRPr sz="1250">
              <a:solidFill>
                <a:schemeClr val="dk1"/>
              </a:solidFill>
              <a:highlight>
                <a:schemeClr val="lt1"/>
              </a:highlight>
            </a:endParaRPr>
          </a:p>
        </p:txBody>
      </p:sp>
      <p:pic>
        <p:nvPicPr>
          <p:cNvPr id="127" name="Google Shape;127;p23"/>
          <p:cNvPicPr preferRelativeResize="0"/>
          <p:nvPr/>
        </p:nvPicPr>
        <p:blipFill>
          <a:blip r:embed="rId3">
            <a:alphaModFix/>
          </a:blip>
          <a:stretch>
            <a:fillRect/>
          </a:stretch>
        </p:blipFill>
        <p:spPr>
          <a:xfrm>
            <a:off x="311700" y="2341575"/>
            <a:ext cx="5160426" cy="2251200"/>
          </a:xfrm>
          <a:prstGeom prst="rect">
            <a:avLst/>
          </a:prstGeom>
          <a:noFill/>
          <a:ln>
            <a:noFill/>
          </a:ln>
        </p:spPr>
      </p:pic>
      <p:pic>
        <p:nvPicPr>
          <p:cNvPr id="128" name="Google Shape;128;p23" title="Screenshot 2025-10-14 at 12.49.22 PM.png"/>
          <p:cNvPicPr preferRelativeResize="0"/>
          <p:nvPr/>
        </p:nvPicPr>
        <p:blipFill>
          <a:blip r:embed="rId4">
            <a:alphaModFix/>
          </a:blip>
          <a:stretch>
            <a:fillRect/>
          </a:stretch>
        </p:blipFill>
        <p:spPr>
          <a:xfrm>
            <a:off x="5542225" y="2341575"/>
            <a:ext cx="3132499" cy="22511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b="1" lang="en"/>
              <a:t>Seasonal Autoregressive Integrated Moving Average (SARIMAX) </a:t>
            </a:r>
            <a:endParaRPr b="1"/>
          </a:p>
          <a:p>
            <a:pPr indent="0" lvl="0" marL="0" rtl="0" algn="l">
              <a:spcBef>
                <a:spcPts val="0"/>
              </a:spcBef>
              <a:spcAft>
                <a:spcPts val="0"/>
              </a:spcAft>
              <a:buClr>
                <a:schemeClr val="dk1"/>
              </a:buClr>
              <a:buSzPct val="39286"/>
              <a:buFont typeface="Arial"/>
              <a:buNone/>
            </a:pPr>
            <a:r>
              <a:rPr b="1" lang="en"/>
              <a:t> </a:t>
            </a:r>
            <a:endParaRPr b="1"/>
          </a:p>
          <a:p>
            <a:pPr indent="0" lvl="0" marL="0" rtl="0" algn="l">
              <a:spcBef>
                <a:spcPts val="0"/>
              </a:spcBef>
              <a:spcAft>
                <a:spcPts val="0"/>
              </a:spcAft>
              <a:buNone/>
            </a:pPr>
            <a:r>
              <a:t/>
            </a:r>
            <a:endParaRPr b="1"/>
          </a:p>
        </p:txBody>
      </p:sp>
      <p:sp>
        <p:nvSpPr>
          <p:cNvPr id="134" name="Google Shape;134;p24"/>
          <p:cNvSpPr txBox="1"/>
          <p:nvPr>
            <p:ph idx="1" type="body"/>
          </p:nvPr>
        </p:nvSpPr>
        <p:spPr>
          <a:xfrm>
            <a:off x="311700" y="1341450"/>
            <a:ext cx="8459400" cy="1317600"/>
          </a:xfrm>
          <a:prstGeom prst="rect">
            <a:avLst/>
          </a:prstGeom>
        </p:spPr>
        <p:txBody>
          <a:bodyPr anchorCtr="0" anchor="t" bIns="91425" lIns="91425" spcFirstLastPara="1" rIns="91425" wrap="square" tIns="91425">
            <a:noAutofit/>
          </a:bodyPr>
          <a:lstStyle/>
          <a:p>
            <a:pPr indent="-307975" lvl="0" marL="457200" rtl="0" algn="l">
              <a:spcBef>
                <a:spcPts val="0"/>
              </a:spcBef>
              <a:spcAft>
                <a:spcPts val="0"/>
              </a:spcAft>
              <a:buClr>
                <a:schemeClr val="dk1"/>
              </a:buClr>
              <a:buSzPts val="1250"/>
              <a:buChar char="●"/>
            </a:pPr>
            <a:r>
              <a:rPr b="1" lang="en" sz="1250">
                <a:solidFill>
                  <a:schemeClr val="dk1"/>
                </a:solidFill>
              </a:rPr>
              <a:t>Weekly Seasonality:</a:t>
            </a:r>
            <a:r>
              <a:rPr lang="en" sz="1250">
                <a:solidFill>
                  <a:schemeClr val="dk1"/>
                </a:solidFill>
              </a:rPr>
              <a:t> B</a:t>
            </a:r>
            <a:r>
              <a:rPr lang="en" sz="1250">
                <a:solidFill>
                  <a:schemeClr val="dk1"/>
                </a:solidFill>
              </a:rPr>
              <a:t>oth Seasonal AR(7) (p = 0.026) and MA(7) (p = 0) are significant, confirming a pattern where power consumption roughly repeats each week and adjusts smoothly based on the previous week’s residuals</a:t>
            </a:r>
            <a:endParaRPr sz="1250">
              <a:solidFill>
                <a:schemeClr val="dk1"/>
              </a:solidFill>
            </a:endParaRPr>
          </a:p>
          <a:p>
            <a:pPr indent="-307975" lvl="0" marL="457200" rtl="0" algn="l">
              <a:spcBef>
                <a:spcPts val="0"/>
              </a:spcBef>
              <a:spcAft>
                <a:spcPts val="0"/>
              </a:spcAft>
              <a:buClr>
                <a:schemeClr val="dk1"/>
              </a:buClr>
              <a:buSzPts val="1250"/>
              <a:buChar char="●"/>
            </a:pPr>
            <a:r>
              <a:rPr lang="en" sz="1250">
                <a:solidFill>
                  <a:schemeClr val="dk1"/>
                </a:solidFill>
              </a:rPr>
              <a:t>SARIMAX forecast tracks the gray test data far better than the others. It captures the weekly seasonality and minimizes error, making it the most reliable forecasting method of the four we explored. The forecast line is smoother than real data but still maintains realistic ups and downs</a:t>
            </a:r>
            <a:endParaRPr sz="1250">
              <a:solidFill>
                <a:schemeClr val="dk1"/>
              </a:solidFill>
            </a:endParaRPr>
          </a:p>
        </p:txBody>
      </p:sp>
      <p:pic>
        <p:nvPicPr>
          <p:cNvPr id="135" name="Google Shape;135;p24"/>
          <p:cNvPicPr preferRelativeResize="0"/>
          <p:nvPr/>
        </p:nvPicPr>
        <p:blipFill>
          <a:blip r:embed="rId3">
            <a:alphaModFix/>
          </a:blip>
          <a:stretch>
            <a:fillRect/>
          </a:stretch>
        </p:blipFill>
        <p:spPr>
          <a:xfrm>
            <a:off x="526000" y="2840894"/>
            <a:ext cx="4260299" cy="2119256"/>
          </a:xfrm>
          <a:prstGeom prst="rect">
            <a:avLst/>
          </a:prstGeom>
          <a:noFill/>
          <a:ln>
            <a:noFill/>
          </a:ln>
        </p:spPr>
      </p:pic>
      <p:pic>
        <p:nvPicPr>
          <p:cNvPr id="136" name="Google Shape;136;p24" title="Screenshot 2025-10-14 at 12.50.07 PM.png"/>
          <p:cNvPicPr preferRelativeResize="0"/>
          <p:nvPr/>
        </p:nvPicPr>
        <p:blipFill>
          <a:blip r:embed="rId4">
            <a:alphaModFix/>
          </a:blip>
          <a:stretch>
            <a:fillRect/>
          </a:stretch>
        </p:blipFill>
        <p:spPr>
          <a:xfrm>
            <a:off x="4843600" y="2808738"/>
            <a:ext cx="4072049" cy="218356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5"/>
          <p:cNvSpPr txBox="1"/>
          <p:nvPr>
            <p:ph type="title"/>
          </p:nvPr>
        </p:nvSpPr>
        <p:spPr>
          <a:xfrm>
            <a:off x="311700" y="338538"/>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Forecast Accuracy Across Models </a:t>
            </a:r>
            <a:endParaRPr b="1"/>
          </a:p>
        </p:txBody>
      </p:sp>
      <p:sp>
        <p:nvSpPr>
          <p:cNvPr id="142" name="Google Shape;142;p25"/>
          <p:cNvSpPr txBox="1"/>
          <p:nvPr>
            <p:ph idx="1" type="body"/>
          </p:nvPr>
        </p:nvSpPr>
        <p:spPr>
          <a:xfrm>
            <a:off x="311700" y="1252575"/>
            <a:ext cx="4346400" cy="3579600"/>
          </a:xfrm>
          <a:prstGeom prst="rect">
            <a:avLst/>
          </a:prstGeom>
        </p:spPr>
        <p:txBody>
          <a:bodyPr anchorCtr="0" anchor="t" bIns="91425" lIns="91425" spcFirstLastPara="1" rIns="91425" wrap="square" tIns="91425">
            <a:noAutofit/>
          </a:bodyPr>
          <a:lstStyle/>
          <a:p>
            <a:pPr indent="-307975" lvl="0" marL="457200" rtl="0" algn="l">
              <a:spcBef>
                <a:spcPts val="1200"/>
              </a:spcBef>
              <a:spcAft>
                <a:spcPts val="0"/>
              </a:spcAft>
              <a:buClr>
                <a:schemeClr val="dk1"/>
              </a:buClr>
              <a:buSzPts val="1250"/>
              <a:buChar char="●"/>
            </a:pPr>
            <a:r>
              <a:rPr lang="en" sz="1250">
                <a:solidFill>
                  <a:schemeClr val="dk1"/>
                </a:solidFill>
              </a:rPr>
              <a:t>According to the</a:t>
            </a:r>
            <a:r>
              <a:rPr b="1" lang="en" sz="1250">
                <a:solidFill>
                  <a:schemeClr val="dk1"/>
                </a:solidFill>
              </a:rPr>
              <a:t> Root Mean Square Errors</a:t>
            </a:r>
            <a:r>
              <a:rPr lang="en" sz="1250">
                <a:solidFill>
                  <a:schemeClr val="dk1"/>
                </a:solidFill>
              </a:rPr>
              <a:t>, the </a:t>
            </a:r>
            <a:r>
              <a:rPr b="1" lang="en" sz="1250">
                <a:solidFill>
                  <a:schemeClr val="dk1"/>
                </a:solidFill>
              </a:rPr>
              <a:t>SARIMAX performed the best</a:t>
            </a:r>
            <a:r>
              <a:rPr lang="en" sz="1250">
                <a:solidFill>
                  <a:schemeClr val="dk1"/>
                </a:solidFill>
              </a:rPr>
              <a:t> compared to the AR, MA, and ARIMA models. ARIMA captured some seasonality, but SARIMAX significantly reduced the error of the prediction</a:t>
            </a:r>
            <a:endParaRPr sz="1250">
              <a:solidFill>
                <a:schemeClr val="dk1"/>
              </a:solidFill>
            </a:endParaRPr>
          </a:p>
          <a:p>
            <a:pPr indent="-307975" lvl="0" marL="457200" rtl="0" algn="l">
              <a:spcBef>
                <a:spcPts val="0"/>
              </a:spcBef>
              <a:spcAft>
                <a:spcPts val="0"/>
              </a:spcAft>
              <a:buClr>
                <a:schemeClr val="dk1"/>
              </a:buClr>
              <a:buSzPts val="1250"/>
              <a:buChar char="●"/>
            </a:pPr>
            <a:r>
              <a:rPr lang="en" sz="1250">
                <a:solidFill>
                  <a:schemeClr val="dk1"/>
                </a:solidFill>
              </a:rPr>
              <a:t>The data has a clear, periodic autocorrelation in 7 day periods → weekly seasonality. </a:t>
            </a:r>
            <a:r>
              <a:rPr lang="en" sz="1250">
                <a:solidFill>
                  <a:schemeClr val="dk1"/>
                </a:solidFill>
              </a:rPr>
              <a:t>This is verified by other sources that show increases in energy consumption on weekdays and decreases on weekends</a:t>
            </a:r>
            <a:endParaRPr sz="1250">
              <a:solidFill>
                <a:schemeClr val="dk1"/>
              </a:solidFill>
            </a:endParaRPr>
          </a:p>
          <a:p>
            <a:pPr indent="-307975" lvl="0" marL="457200" rtl="0" algn="l">
              <a:spcBef>
                <a:spcPts val="0"/>
              </a:spcBef>
              <a:spcAft>
                <a:spcPts val="0"/>
              </a:spcAft>
              <a:buClr>
                <a:schemeClr val="dk1"/>
              </a:buClr>
              <a:buSzPts val="1250"/>
              <a:buChar char="●"/>
            </a:pPr>
            <a:r>
              <a:rPr lang="en" sz="1250">
                <a:solidFill>
                  <a:schemeClr val="dk1"/>
                </a:solidFill>
              </a:rPr>
              <a:t>T</a:t>
            </a:r>
            <a:r>
              <a:rPr lang="en" sz="1250">
                <a:solidFill>
                  <a:schemeClr val="dk1"/>
                </a:solidFill>
              </a:rPr>
              <a:t>he autocorrelation largely disappeared when the data was aggregated to weekly or monthly levels, so we may say that the observed dependencies are short-term/intra week changes</a:t>
            </a:r>
            <a:endParaRPr sz="1250">
              <a:solidFill>
                <a:schemeClr val="dk1"/>
              </a:solidFill>
            </a:endParaRPr>
          </a:p>
        </p:txBody>
      </p:sp>
      <p:graphicFrame>
        <p:nvGraphicFramePr>
          <p:cNvPr id="143" name="Google Shape;143;p25"/>
          <p:cNvGraphicFramePr/>
          <p:nvPr/>
        </p:nvGraphicFramePr>
        <p:xfrm>
          <a:off x="4886900" y="1406625"/>
          <a:ext cx="3000000" cy="3000000"/>
        </p:xfrm>
        <a:graphic>
          <a:graphicData uri="http://schemas.openxmlformats.org/drawingml/2006/table">
            <a:tbl>
              <a:tblPr>
                <a:noFill/>
                <a:tableStyleId>{21B1D6B8-CC62-4B3A-B8C0-3D12BBF7CC9A}</a:tableStyleId>
              </a:tblPr>
              <a:tblGrid>
                <a:gridCol w="1881425"/>
                <a:gridCol w="1881425"/>
              </a:tblGrid>
              <a:tr h="381000">
                <a:tc>
                  <a:txBody>
                    <a:bodyPr/>
                    <a:lstStyle/>
                    <a:p>
                      <a:pPr indent="0" lvl="0" marL="0" rtl="0" algn="l">
                        <a:spcBef>
                          <a:spcPts val="0"/>
                        </a:spcBef>
                        <a:spcAft>
                          <a:spcPts val="0"/>
                        </a:spcAft>
                        <a:buNone/>
                      </a:pPr>
                      <a:r>
                        <a:rPr b="1" lang="en"/>
                        <a:t>Model</a:t>
                      </a:r>
                      <a:endParaRPr b="1"/>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a:t>RMSE</a:t>
                      </a:r>
                      <a:endParaRPr b="1"/>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
                        <a:t>AR</a:t>
                      </a:r>
                      <a:endParaRPr b="1"/>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t>2320.37</a:t>
                      </a: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
                        <a:t>MA</a:t>
                      </a:r>
                      <a:endParaRPr b="1"/>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t>2018.41</a:t>
                      </a: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
                        <a:t>ARIMA</a:t>
                      </a:r>
                      <a:endParaRPr b="1"/>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t>2230.99</a:t>
                      </a: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
                        <a:t>SARIMAX</a:t>
                      </a:r>
                      <a:endParaRPr b="1"/>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1418.17</a:t>
                      </a: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6"/>
          <p:cNvSpPr txBox="1"/>
          <p:nvPr>
            <p:ph idx="1" type="body"/>
          </p:nvPr>
        </p:nvSpPr>
        <p:spPr>
          <a:xfrm>
            <a:off x="311700" y="1165250"/>
            <a:ext cx="8232600" cy="3095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250">
                <a:solidFill>
                  <a:schemeClr val="dk1"/>
                </a:solidFill>
              </a:rPr>
              <a:t>Models: </a:t>
            </a:r>
            <a:endParaRPr b="1" sz="1250">
              <a:solidFill>
                <a:schemeClr val="dk1"/>
              </a:solidFill>
            </a:endParaRPr>
          </a:p>
          <a:p>
            <a:pPr indent="-307975" lvl="0" marL="457200" rtl="0" algn="l">
              <a:spcBef>
                <a:spcPts val="1200"/>
              </a:spcBef>
              <a:spcAft>
                <a:spcPts val="0"/>
              </a:spcAft>
              <a:buClr>
                <a:schemeClr val="dk1"/>
              </a:buClr>
              <a:buSzPts val="1250"/>
              <a:buAutoNum type="arabicParenR"/>
            </a:pPr>
            <a:r>
              <a:rPr b="1" lang="en" sz="1250">
                <a:solidFill>
                  <a:schemeClr val="dk1"/>
                </a:solidFill>
              </a:rPr>
              <a:t>Daily patterns drive energy consumption:</a:t>
            </a:r>
            <a:r>
              <a:rPr lang="en" sz="1250">
                <a:solidFill>
                  <a:schemeClr val="dk1"/>
                </a:solidFill>
              </a:rPr>
              <a:t> Power usage follows clear weekly cycles with weekday peaks and weekend drops; short-term shocks smooth out shortly after they occur</a:t>
            </a:r>
            <a:endParaRPr sz="1250">
              <a:solidFill>
                <a:schemeClr val="dk1"/>
              </a:solidFill>
            </a:endParaRPr>
          </a:p>
          <a:p>
            <a:pPr indent="-307975" lvl="0" marL="457200" rtl="0" algn="l">
              <a:spcBef>
                <a:spcPts val="0"/>
              </a:spcBef>
              <a:spcAft>
                <a:spcPts val="0"/>
              </a:spcAft>
              <a:buClr>
                <a:schemeClr val="dk1"/>
              </a:buClr>
              <a:buSzPts val="1250"/>
              <a:buAutoNum type="arabicParenR"/>
            </a:pPr>
            <a:r>
              <a:rPr b="1" lang="en" sz="1250">
                <a:solidFill>
                  <a:schemeClr val="dk1"/>
                </a:solidFill>
              </a:rPr>
              <a:t>SARIMAX performs best:</a:t>
            </a:r>
            <a:r>
              <a:rPr lang="en" sz="1250">
                <a:solidFill>
                  <a:schemeClr val="dk1"/>
                </a:solidFill>
              </a:rPr>
              <a:t> It captures both short-term and weekly seasonality, giving the most accurate forecasts</a:t>
            </a:r>
            <a:endParaRPr sz="1250">
              <a:solidFill>
                <a:schemeClr val="dk1"/>
              </a:solidFill>
            </a:endParaRPr>
          </a:p>
          <a:p>
            <a:pPr indent="0" lvl="0" marL="0" rtl="0" algn="l">
              <a:spcBef>
                <a:spcPts val="1200"/>
              </a:spcBef>
              <a:spcAft>
                <a:spcPts val="0"/>
              </a:spcAft>
              <a:buNone/>
            </a:pPr>
            <a:r>
              <a:rPr b="1" lang="en" sz="1250">
                <a:solidFill>
                  <a:schemeClr val="dk1"/>
                </a:solidFill>
              </a:rPr>
              <a:t>Applying this insight to business context: </a:t>
            </a:r>
            <a:endParaRPr b="1" sz="1250">
              <a:solidFill>
                <a:schemeClr val="dk1"/>
              </a:solidFill>
            </a:endParaRPr>
          </a:p>
          <a:p>
            <a:pPr indent="-307975" lvl="0" marL="457200" rtl="0" algn="l">
              <a:spcBef>
                <a:spcPts val="1200"/>
              </a:spcBef>
              <a:spcAft>
                <a:spcPts val="0"/>
              </a:spcAft>
              <a:buClr>
                <a:schemeClr val="dk1"/>
              </a:buClr>
              <a:buSzPts val="1250"/>
              <a:buAutoNum type="arabicParenR"/>
            </a:pPr>
            <a:r>
              <a:rPr b="1" lang="en" sz="1250">
                <a:solidFill>
                  <a:schemeClr val="dk1"/>
                </a:solidFill>
              </a:rPr>
              <a:t>Utilities</a:t>
            </a:r>
            <a:r>
              <a:rPr lang="en" sz="1250">
                <a:solidFill>
                  <a:schemeClr val="dk1"/>
                </a:solidFill>
              </a:rPr>
              <a:t>: Knowing weekly seasonality helps forecast weekday peaks and weekend drops, enabling more efficient power generation and load balancing</a:t>
            </a:r>
            <a:endParaRPr sz="1250">
              <a:solidFill>
                <a:schemeClr val="dk1"/>
              </a:solidFill>
            </a:endParaRPr>
          </a:p>
          <a:p>
            <a:pPr indent="-307975" lvl="0" marL="457200" rtl="0" algn="l">
              <a:spcBef>
                <a:spcPts val="0"/>
              </a:spcBef>
              <a:spcAft>
                <a:spcPts val="0"/>
              </a:spcAft>
              <a:buClr>
                <a:schemeClr val="dk1"/>
              </a:buClr>
              <a:buSzPts val="1250"/>
              <a:buAutoNum type="arabicParenR"/>
            </a:pPr>
            <a:r>
              <a:rPr b="1" lang="en" sz="1250">
                <a:solidFill>
                  <a:schemeClr val="dk1"/>
                </a:solidFill>
              </a:rPr>
              <a:t>Industries</a:t>
            </a:r>
            <a:r>
              <a:rPr lang="en" sz="1250">
                <a:solidFill>
                  <a:schemeClr val="dk1"/>
                </a:solidFill>
              </a:rPr>
              <a:t>: Understanding weekly demand cycles allows companies to schedule high-energy operations during low-demand periods and cut energy costs</a:t>
            </a:r>
            <a:endParaRPr sz="1250">
              <a:solidFill>
                <a:schemeClr val="dk1"/>
              </a:solidFill>
            </a:endParaRPr>
          </a:p>
          <a:p>
            <a:pPr indent="-307975" lvl="0" marL="457200" rtl="0" algn="l">
              <a:spcBef>
                <a:spcPts val="0"/>
              </a:spcBef>
              <a:spcAft>
                <a:spcPts val="0"/>
              </a:spcAft>
              <a:buClr>
                <a:schemeClr val="dk1"/>
              </a:buClr>
              <a:buSzPts val="1250"/>
              <a:buAutoNum type="arabicParenR"/>
            </a:pPr>
            <a:r>
              <a:rPr b="1" lang="en" sz="1250">
                <a:solidFill>
                  <a:schemeClr val="dk1"/>
                </a:solidFill>
              </a:rPr>
              <a:t>Buildings</a:t>
            </a:r>
            <a:r>
              <a:rPr lang="en" sz="1250">
                <a:solidFill>
                  <a:schemeClr val="dk1"/>
                </a:solidFill>
              </a:rPr>
              <a:t>: Recognizing weekday and weekend consumption patterns supports HVAC and lighting controls for more sustainable energy use</a:t>
            </a:r>
            <a:endParaRPr sz="1250">
              <a:solidFill>
                <a:schemeClr val="dk1"/>
              </a:solidFill>
            </a:endParaRPr>
          </a:p>
        </p:txBody>
      </p:sp>
      <p:sp>
        <p:nvSpPr>
          <p:cNvPr id="149" name="Google Shape;149;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b="1" lang="en"/>
              <a:t>What we Learned and Why it Matters</a:t>
            </a:r>
            <a:endParaRPr b="1"/>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