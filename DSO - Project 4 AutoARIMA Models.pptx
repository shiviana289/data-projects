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5A240E-EA89-4799-8064-748D46E3D124}">
  <a:tblStyle styleId="{575A240E-EA89-4799-8064-748D46E3D12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1af2c0fd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1af2c0fd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Analytics framework = </a:t>
            </a:r>
            <a:r>
              <a:rPr lang="en">
                <a:solidFill>
                  <a:schemeClr val="dk1"/>
                </a:solidFill>
              </a:rPr>
              <a:t>Goal definition, Data collection, Data analysis and modeling, Interpretation, action, and feedback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8715c011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88715c011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a:solidFill>
                  <a:srgbClr val="595959"/>
                </a:solidFill>
              </a:rPr>
              <a:t>Create two forecasting models: Moving Average (MA) model and Autoregressive (AR) model and use Autocorrelation Function (ACF) and Partial Autocorrelation Function (PACF) to determine the degrees q and p of the models MA(q) and AR(p). As determined by the ACF and PACF visualizations, use both modeling approaches on the same dataset.  Use each modeling approach separately. Note that in some cases, the model may be MA(0) or AR(0</a:t>
            </a:r>
            <a:endParaRPr sz="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8715c011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88715c011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ss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19c6d8ca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19c6d8ca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f0ab75f0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9f0ab75f0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819c6d8ca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819c6d8ca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chemeClr val="dk1"/>
              </a:buClr>
              <a:buSzPts val="1300"/>
              <a:buChar char="●"/>
            </a:pPr>
            <a:r>
              <a:rPr lang="en" sz="1300">
                <a:solidFill>
                  <a:schemeClr val="dk1"/>
                </a:solidFill>
              </a:rPr>
              <a:t>What the p and q are, interpretation of it + image  </a:t>
            </a:r>
            <a:endParaRPr sz="1300">
              <a:solidFill>
                <a:schemeClr val="dk1"/>
              </a:solidFill>
            </a:endParaRPr>
          </a:p>
          <a:p>
            <a:pPr indent="0" lvl="0" marL="0" rtl="0" algn="l">
              <a:spcBef>
                <a:spcPts val="1200"/>
              </a:spcBef>
              <a:spcAft>
                <a:spcPts val="0"/>
              </a:spcAft>
              <a:buNone/>
            </a:pPr>
            <a:r>
              <a:t/>
            </a:r>
            <a:endParaRPr sz="1050">
              <a:solidFill>
                <a:schemeClr val="dk1"/>
              </a:solidFill>
              <a:highlight>
                <a:srgbClr val="FFFFFF"/>
              </a:highlight>
              <a:latin typeface="Courier New"/>
              <a:ea typeface="Courier New"/>
              <a:cs typeface="Courier New"/>
              <a:sym typeface="Courier New"/>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f0ab75f0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9f0ab75f0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chemeClr val="dk1"/>
              </a:solidFill>
              <a:highlight>
                <a:srgbClr val="FFFFFF"/>
              </a:highlight>
              <a:latin typeface="Courier New"/>
              <a:ea typeface="Courier New"/>
              <a:cs typeface="Courier New"/>
              <a:sym typeface="Courier New"/>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ef0a1e4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ef0a1e4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graph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81af2c0fd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81af2c0fd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ss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ef0a1e40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9ef0a1e40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ss</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f0ab75f0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f0ab75f0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ss</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f0ab75f0d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f0ab75f0d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f0ab75f0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f0ab75f0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ss</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8c90937f9a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8c90937f9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250">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
              <a:t>Power Consumption Dataset</a:t>
            </a:r>
            <a:endParaRPr b="1"/>
          </a:p>
          <a:p>
            <a:pPr indent="0" lvl="0" marL="0" rtl="0" algn="ctr">
              <a:spcBef>
                <a:spcPts val="0"/>
              </a:spcBef>
              <a:spcAft>
                <a:spcPts val="0"/>
              </a:spcAft>
              <a:buNone/>
            </a:pPr>
            <a:r>
              <a:rPr b="1" i="1" lang="en" sz="3533"/>
              <a:t>Time-Series Modeling (Auto-ARIMA)</a:t>
            </a:r>
            <a:endParaRPr b="1" i="1" sz="3533"/>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Shivi Anand, Edvina Buyuksoy</a:t>
            </a:r>
            <a:endParaRPr/>
          </a:p>
          <a:p>
            <a:pPr indent="0" lvl="0" marL="0" rtl="0" algn="ctr">
              <a:spcBef>
                <a:spcPts val="0"/>
              </a:spcBef>
              <a:spcAft>
                <a:spcPts val="0"/>
              </a:spcAft>
              <a:buNone/>
            </a:pPr>
            <a:r>
              <a:rPr lang="en"/>
              <a:t>DSO 424: Business Forecasting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title="Screenshot 2025-10-28 at 5.23.12 PM.png"/>
          <p:cNvPicPr preferRelativeResize="0"/>
          <p:nvPr/>
        </p:nvPicPr>
        <p:blipFill>
          <a:blip r:embed="rId3">
            <a:alphaModFix/>
          </a:blip>
          <a:stretch>
            <a:fillRect/>
          </a:stretch>
        </p:blipFill>
        <p:spPr>
          <a:xfrm>
            <a:off x="1191102" y="0"/>
            <a:ext cx="676179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Goal Definition</a:t>
            </a:r>
            <a:endParaRPr b="1"/>
          </a:p>
        </p:txBody>
      </p:sp>
      <p:sp>
        <p:nvSpPr>
          <p:cNvPr id="66" name="Google Shape;66;p15"/>
          <p:cNvSpPr txBox="1"/>
          <p:nvPr>
            <p:ph idx="1" type="body"/>
          </p:nvPr>
        </p:nvSpPr>
        <p:spPr>
          <a:xfrm>
            <a:off x="311700" y="1152475"/>
            <a:ext cx="8445900" cy="256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chemeClr val="dk1"/>
                </a:solidFill>
              </a:rPr>
              <a:t>Goal:</a:t>
            </a:r>
            <a:r>
              <a:rPr lang="en" sz="1400">
                <a:solidFill>
                  <a:schemeClr val="dk1"/>
                </a:solidFill>
              </a:rPr>
              <a:t> </a:t>
            </a:r>
            <a:r>
              <a:rPr b="1" lang="en" sz="1400">
                <a:solidFill>
                  <a:schemeClr val="dk1"/>
                </a:solidFill>
              </a:rPr>
              <a:t>A</a:t>
            </a:r>
            <a:r>
              <a:rPr b="1" lang="en" sz="1400">
                <a:solidFill>
                  <a:schemeClr val="dk1"/>
                </a:solidFill>
              </a:rPr>
              <a:t>nalyze and forecast daily electricity consumption patterns</a:t>
            </a:r>
            <a:r>
              <a:rPr lang="en" sz="1400">
                <a:solidFill>
                  <a:schemeClr val="dk1"/>
                </a:solidFill>
              </a:rPr>
              <a:t> in the city of Tetouan, Morocco, using historical power usage and weather data. The objective is to evaluate Auto-ARIMA forecasting accuracy and identify ways to improve model performance</a:t>
            </a:r>
            <a:endParaRPr sz="1400"/>
          </a:p>
          <a:p>
            <a:pPr indent="0" lvl="0" marL="0" rtl="0" algn="l">
              <a:spcBef>
                <a:spcPts val="1200"/>
              </a:spcBef>
              <a:spcAft>
                <a:spcPts val="0"/>
              </a:spcAft>
              <a:buNone/>
            </a:pPr>
            <a:r>
              <a:rPr b="1" lang="en" sz="1400">
                <a:solidFill>
                  <a:schemeClr val="dk1"/>
                </a:solidFill>
              </a:rPr>
              <a:t>Dependent variable: </a:t>
            </a:r>
            <a:r>
              <a:rPr lang="en" sz="1400">
                <a:solidFill>
                  <a:schemeClr val="dk1"/>
                </a:solidFill>
              </a:rPr>
              <a:t>PowerConsumption_Zone2</a:t>
            </a:r>
            <a:endParaRPr sz="1400">
              <a:solidFill>
                <a:schemeClr val="dk1"/>
              </a:solidFill>
            </a:endParaRPr>
          </a:p>
          <a:p>
            <a:pPr indent="0" lvl="0" marL="0" rtl="0" algn="l">
              <a:lnSpc>
                <a:spcPct val="100000"/>
              </a:lnSpc>
              <a:spcBef>
                <a:spcPts val="1200"/>
              </a:spcBef>
              <a:spcAft>
                <a:spcPts val="0"/>
              </a:spcAft>
              <a:buNone/>
            </a:pPr>
            <a:r>
              <a:t/>
            </a:r>
            <a:endParaRPr sz="1400">
              <a:solidFill>
                <a:srgbClr val="660000"/>
              </a:solidFill>
            </a:endParaRPr>
          </a:p>
        </p:txBody>
      </p:sp>
      <p:pic>
        <p:nvPicPr>
          <p:cNvPr id="67" name="Google Shape;67;p15"/>
          <p:cNvPicPr preferRelativeResize="0"/>
          <p:nvPr/>
        </p:nvPicPr>
        <p:blipFill>
          <a:blip r:embed="rId3">
            <a:alphaModFix/>
          </a:blip>
          <a:stretch>
            <a:fillRect/>
          </a:stretch>
        </p:blipFill>
        <p:spPr>
          <a:xfrm>
            <a:off x="1372100" y="3304950"/>
            <a:ext cx="1783125" cy="1185500"/>
          </a:xfrm>
          <a:prstGeom prst="rect">
            <a:avLst/>
          </a:prstGeom>
          <a:noFill/>
          <a:ln>
            <a:noFill/>
          </a:ln>
        </p:spPr>
      </p:pic>
      <p:pic>
        <p:nvPicPr>
          <p:cNvPr id="68" name="Google Shape;68;p15" title="Screenshot 2025-10-13 at 17.18.51.png"/>
          <p:cNvPicPr preferRelativeResize="0"/>
          <p:nvPr/>
        </p:nvPicPr>
        <p:blipFill>
          <a:blip r:embed="rId4">
            <a:alphaModFix/>
          </a:blip>
          <a:stretch>
            <a:fillRect/>
          </a:stretch>
        </p:blipFill>
        <p:spPr>
          <a:xfrm>
            <a:off x="4201800" y="3634525"/>
            <a:ext cx="4162002" cy="526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idx="1" type="body"/>
          </p:nvPr>
        </p:nvSpPr>
        <p:spPr>
          <a:xfrm>
            <a:off x="171100" y="911250"/>
            <a:ext cx="8774400" cy="3825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sz="1400">
                <a:solidFill>
                  <a:schemeClr val="dk1"/>
                </a:solidFill>
              </a:rPr>
              <a:t>52,416 observations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Recorded at 10-minute intervals for one year</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Every observation has 9 feature columns as described </a:t>
            </a:r>
            <a:r>
              <a:rPr lang="en" sz="1400">
                <a:solidFill>
                  <a:schemeClr val="dk1"/>
                </a:solidFill>
              </a:rPr>
              <a:t>below</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Data Dictionary: </a:t>
            </a:r>
            <a:endParaRPr b="1" sz="1400">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Date Time: </a:t>
            </a:r>
            <a:r>
              <a:rPr lang="en">
                <a:solidFill>
                  <a:schemeClr val="dk1"/>
                </a:solidFill>
              </a:rPr>
              <a:t>Time window of ten minutes</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Temperature: </a:t>
            </a:r>
            <a:r>
              <a:rPr lang="en">
                <a:solidFill>
                  <a:schemeClr val="dk1"/>
                </a:solidFill>
              </a:rPr>
              <a:t>Weather Temperature</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Humidity: </a:t>
            </a:r>
            <a:r>
              <a:rPr lang="en">
                <a:solidFill>
                  <a:schemeClr val="dk1"/>
                </a:solidFill>
              </a:rPr>
              <a:t>Weather Humidity</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Wind Speed:</a:t>
            </a:r>
            <a:r>
              <a:rPr lang="en">
                <a:solidFill>
                  <a:schemeClr val="dk1"/>
                </a:solidFill>
              </a:rPr>
              <a:t> Wind Speed</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General Diffuse Flows: </a:t>
            </a:r>
            <a:r>
              <a:rPr lang="en">
                <a:solidFill>
                  <a:schemeClr val="dk1"/>
                </a:solidFill>
              </a:rPr>
              <a:t>describes low-temperature (&lt; 0.2° to ~ 100°C) fluids that slowly discharge through sulfide mounds, fractured lava flows, and assemblages of bacterial mats and macrofauna</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Diffuse Flows</a:t>
            </a:r>
            <a:endParaRPr b="1">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Zone 1 Power Consumption</a:t>
            </a:r>
            <a:endParaRPr b="1">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Zone 2 Power Consumption</a:t>
            </a:r>
            <a:endParaRPr b="1">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Zone 3 Power Consumption</a:t>
            </a:r>
            <a:endParaRPr b="1">
              <a:solidFill>
                <a:schemeClr val="dk1"/>
              </a:solidFill>
            </a:endParaRPr>
          </a:p>
        </p:txBody>
      </p:sp>
      <p:sp>
        <p:nvSpPr>
          <p:cNvPr id="74" name="Google Shape;74;p16"/>
          <p:cNvSpPr txBox="1"/>
          <p:nvPr>
            <p:ph type="title"/>
          </p:nvPr>
        </p:nvSpPr>
        <p:spPr>
          <a:xfrm>
            <a:off x="311700" y="33853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Energy Consumption Dataset</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Dataset Snapshot </a:t>
            </a:r>
            <a:endParaRPr b="1"/>
          </a:p>
        </p:txBody>
      </p:sp>
      <p:pic>
        <p:nvPicPr>
          <p:cNvPr id="80" name="Google Shape;80;p17" title="Screenshot 2025-10-13 at 17.30.34.png"/>
          <p:cNvPicPr preferRelativeResize="0"/>
          <p:nvPr/>
        </p:nvPicPr>
        <p:blipFill>
          <a:blip r:embed="rId3">
            <a:alphaModFix/>
          </a:blip>
          <a:stretch>
            <a:fillRect/>
          </a:stretch>
        </p:blipFill>
        <p:spPr>
          <a:xfrm>
            <a:off x="521613" y="1017725"/>
            <a:ext cx="8100787" cy="382097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Preparing the Dataset</a:t>
            </a:r>
            <a:endParaRPr b="1"/>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To build a clean, stationary daily series for forecasting:</a:t>
            </a:r>
            <a:endParaRPr sz="1400">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Converted Date Time</a:t>
            </a:r>
            <a:r>
              <a:rPr lang="en">
                <a:solidFill>
                  <a:schemeClr val="dk1"/>
                </a:solidFill>
              </a:rPr>
              <a:t> </a:t>
            </a:r>
            <a:r>
              <a:rPr b="1" lang="en">
                <a:solidFill>
                  <a:schemeClr val="dk1"/>
                </a:solidFill>
              </a:rPr>
              <a:t>to a datetime object</a:t>
            </a:r>
            <a:r>
              <a:rPr lang="en">
                <a:solidFill>
                  <a:schemeClr val="dk1"/>
                </a:solidFill>
              </a:rPr>
              <a:t> and set it as the index</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Resampled</a:t>
            </a:r>
            <a:r>
              <a:rPr lang="en">
                <a:solidFill>
                  <a:schemeClr val="dk1"/>
                </a:solidFill>
              </a:rPr>
              <a:t> 10-minute readings into daily averages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No differencing </a:t>
            </a:r>
            <a:r>
              <a:rPr lang="en">
                <a:solidFill>
                  <a:schemeClr val="dk1"/>
                </a:solidFill>
              </a:rPr>
              <a:t>performed because that step is built in to the auto arima function.</a:t>
            </a:r>
            <a:endParaRPr>
              <a:solidFill>
                <a:schemeClr val="dk1"/>
              </a:solidFill>
            </a:endParaRPr>
          </a:p>
        </p:txBody>
      </p:sp>
      <p:pic>
        <p:nvPicPr>
          <p:cNvPr id="87" name="Google Shape;87;p18" title="Screenshot 2025-10-31 at 9.25.03 AM.png"/>
          <p:cNvPicPr preferRelativeResize="0"/>
          <p:nvPr/>
        </p:nvPicPr>
        <p:blipFill>
          <a:blip r:embed="rId3">
            <a:alphaModFix/>
          </a:blip>
          <a:stretch>
            <a:fillRect/>
          </a:stretch>
        </p:blipFill>
        <p:spPr>
          <a:xfrm>
            <a:off x="1070463" y="2571750"/>
            <a:ext cx="7003075" cy="1939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9"/>
          <p:cNvPicPr preferRelativeResize="0"/>
          <p:nvPr/>
        </p:nvPicPr>
        <p:blipFill>
          <a:blip r:embed="rId3">
            <a:alphaModFix/>
          </a:blip>
          <a:stretch>
            <a:fillRect/>
          </a:stretch>
        </p:blipFill>
        <p:spPr>
          <a:xfrm>
            <a:off x="432975" y="1041875"/>
            <a:ext cx="5005799" cy="3998575"/>
          </a:xfrm>
          <a:prstGeom prst="rect">
            <a:avLst/>
          </a:prstGeom>
          <a:noFill/>
          <a:ln>
            <a:noFill/>
          </a:ln>
        </p:spPr>
      </p:pic>
      <p:sp>
        <p:nvSpPr>
          <p:cNvPr id="93" name="Google Shape;93;p19"/>
          <p:cNvSpPr txBox="1"/>
          <p:nvPr>
            <p:ph type="title"/>
          </p:nvPr>
        </p:nvSpPr>
        <p:spPr>
          <a:xfrm>
            <a:off x="311700" y="33853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Exploratory </a:t>
            </a:r>
            <a:r>
              <a:rPr b="1" lang="en"/>
              <a:t>ACF and PACF on Raw Data </a:t>
            </a:r>
            <a:endParaRPr b="1"/>
          </a:p>
        </p:txBody>
      </p:sp>
      <p:cxnSp>
        <p:nvCxnSpPr>
          <p:cNvPr id="94" name="Google Shape;94;p19"/>
          <p:cNvCxnSpPr/>
          <p:nvPr/>
        </p:nvCxnSpPr>
        <p:spPr>
          <a:xfrm flipH="1">
            <a:off x="1880275" y="981475"/>
            <a:ext cx="3525600" cy="885300"/>
          </a:xfrm>
          <a:prstGeom prst="straightConnector1">
            <a:avLst/>
          </a:prstGeom>
          <a:noFill/>
          <a:ln cap="flat" cmpd="sng" w="9525">
            <a:solidFill>
              <a:srgbClr val="FF0000"/>
            </a:solidFill>
            <a:prstDash val="solid"/>
            <a:round/>
            <a:headEnd len="med" w="med" type="none"/>
            <a:tailEnd len="med" w="med" type="triangle"/>
          </a:ln>
        </p:spPr>
      </p:cxnSp>
      <p:sp>
        <p:nvSpPr>
          <p:cNvPr id="95" name="Google Shape;95;p19"/>
          <p:cNvSpPr txBox="1"/>
          <p:nvPr/>
        </p:nvSpPr>
        <p:spPr>
          <a:xfrm>
            <a:off x="5472600" y="842250"/>
            <a:ext cx="3671400" cy="30750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ACF spikes at lags 7, 14 → strong repeating weekly pattern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PACF spikes at short lags → short-term autocorrelation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These plots guided the Auto-ARIMA seasonal setup (m = 7)</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Because the data is not stationary, the autocorrelations remain strong over many lags, confirming the need for differencing, which Auto-ARIMA will automatically handle.</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cxnSp>
        <p:nvCxnSpPr>
          <p:cNvPr id="96" name="Google Shape;96;p19"/>
          <p:cNvCxnSpPr/>
          <p:nvPr/>
        </p:nvCxnSpPr>
        <p:spPr>
          <a:xfrm flipH="1">
            <a:off x="1890025" y="981475"/>
            <a:ext cx="3506100" cy="26406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33853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ACF and PACF Models</a:t>
            </a:r>
            <a:endParaRPr b="1"/>
          </a:p>
        </p:txBody>
      </p:sp>
      <p:pic>
        <p:nvPicPr>
          <p:cNvPr id="102" name="Google Shape;102;p20"/>
          <p:cNvPicPr preferRelativeResize="0"/>
          <p:nvPr/>
        </p:nvPicPr>
        <p:blipFill>
          <a:blip r:embed="rId3">
            <a:alphaModFix/>
          </a:blip>
          <a:stretch>
            <a:fillRect/>
          </a:stretch>
        </p:blipFill>
        <p:spPr>
          <a:xfrm>
            <a:off x="459975" y="1405925"/>
            <a:ext cx="4178087" cy="3337400"/>
          </a:xfrm>
          <a:prstGeom prst="rect">
            <a:avLst/>
          </a:prstGeom>
          <a:noFill/>
          <a:ln>
            <a:noFill/>
          </a:ln>
        </p:spPr>
      </p:pic>
      <p:cxnSp>
        <p:nvCxnSpPr>
          <p:cNvPr id="103" name="Google Shape;103;p20"/>
          <p:cNvCxnSpPr/>
          <p:nvPr/>
        </p:nvCxnSpPr>
        <p:spPr>
          <a:xfrm flipH="1">
            <a:off x="1749250" y="930950"/>
            <a:ext cx="3525600" cy="885300"/>
          </a:xfrm>
          <a:prstGeom prst="straightConnector1">
            <a:avLst/>
          </a:prstGeom>
          <a:noFill/>
          <a:ln cap="flat" cmpd="sng" w="9525">
            <a:solidFill>
              <a:srgbClr val="FF0000"/>
            </a:solidFill>
            <a:prstDash val="solid"/>
            <a:round/>
            <a:headEnd len="med" w="med" type="none"/>
            <a:tailEnd len="med" w="med" type="triangle"/>
          </a:ln>
        </p:spPr>
      </p:cxnSp>
      <p:sp>
        <p:nvSpPr>
          <p:cNvPr id="104" name="Google Shape;104;p20"/>
          <p:cNvSpPr txBox="1"/>
          <p:nvPr/>
        </p:nvSpPr>
        <p:spPr>
          <a:xfrm>
            <a:off x="5243200" y="730725"/>
            <a:ext cx="3671400" cy="30750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ACF and PACF after applying first differencing (d=1).</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 series is now stationary, with autocorrelations fading quickly, indicating a stable mean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Auto-ARIMA detects and applies this differencing step</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 noticeable spike at lag 7 remains, confirming a weekly seasonal pattern captured through the seasonal parameter(m=7)</a:t>
            </a:r>
            <a:endParaRPr sz="1100">
              <a:solidFill>
                <a:schemeClr val="dk1"/>
              </a:solidFill>
            </a:endParaRPr>
          </a:p>
        </p:txBody>
      </p:sp>
      <p:cxnSp>
        <p:nvCxnSpPr>
          <p:cNvPr id="105" name="Google Shape;105;p20"/>
          <p:cNvCxnSpPr/>
          <p:nvPr/>
        </p:nvCxnSpPr>
        <p:spPr>
          <a:xfrm flipH="1">
            <a:off x="1768750" y="930950"/>
            <a:ext cx="3506100" cy="26406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Auto ARIMA Model</a:t>
            </a:r>
            <a:endParaRPr b="1"/>
          </a:p>
          <a:p>
            <a:pPr indent="0" lvl="0" marL="0" rtl="0" algn="l">
              <a:spcBef>
                <a:spcPts val="0"/>
              </a:spcBef>
              <a:spcAft>
                <a:spcPts val="0"/>
              </a:spcAft>
              <a:buNone/>
            </a:pPr>
            <a:r>
              <a:rPr b="1" lang="en"/>
              <a:t> </a:t>
            </a:r>
            <a:endParaRPr b="1"/>
          </a:p>
        </p:txBody>
      </p:sp>
      <p:sp>
        <p:nvSpPr>
          <p:cNvPr id="111" name="Google Shape;111;p21"/>
          <p:cNvSpPr txBox="1"/>
          <p:nvPr>
            <p:ph idx="1" type="body"/>
          </p:nvPr>
        </p:nvSpPr>
        <p:spPr>
          <a:xfrm>
            <a:off x="311700" y="917175"/>
            <a:ext cx="8520600" cy="1377900"/>
          </a:xfrm>
          <a:prstGeom prst="rect">
            <a:avLst/>
          </a:prstGeom>
        </p:spPr>
        <p:txBody>
          <a:bodyPr anchorCtr="0" anchor="t" bIns="91425" lIns="91425" spcFirstLastPara="1" rIns="91425" wrap="square" tIns="91425">
            <a:noAutofit/>
          </a:bodyPr>
          <a:lstStyle/>
          <a:p>
            <a:pPr indent="-310515" lvl="0" marL="457200" rtl="0" algn="l">
              <a:lnSpc>
                <a:spcPct val="105000"/>
              </a:lnSpc>
              <a:spcBef>
                <a:spcPts val="0"/>
              </a:spcBef>
              <a:spcAft>
                <a:spcPts val="0"/>
              </a:spcAft>
              <a:buClr>
                <a:srgbClr val="000000"/>
              </a:buClr>
              <a:buSzPts val="1290"/>
              <a:buChar char="●"/>
            </a:pPr>
            <a:r>
              <a:rPr lang="en" sz="1290">
                <a:solidFill>
                  <a:srgbClr val="000000"/>
                </a:solidFill>
                <a:highlight>
                  <a:schemeClr val="lt1"/>
                </a:highlight>
              </a:rPr>
              <a:t>The Auto-ARIMA grid search tested multiple (p,d,q)(P,D,Q,7) configurations and selected the model with the lowest AIC, ensuring both a good fit and model simplicity. The AIC balances model accuracy with parsimony</a:t>
            </a:r>
            <a:endParaRPr sz="1290">
              <a:solidFill>
                <a:srgbClr val="000000"/>
              </a:solidFill>
              <a:highlight>
                <a:schemeClr val="lt1"/>
              </a:highlight>
            </a:endParaRPr>
          </a:p>
          <a:p>
            <a:pPr indent="-310515" lvl="0" marL="457200" rtl="0" algn="l">
              <a:lnSpc>
                <a:spcPct val="105000"/>
              </a:lnSpc>
              <a:spcBef>
                <a:spcPts val="0"/>
              </a:spcBef>
              <a:spcAft>
                <a:spcPts val="0"/>
              </a:spcAft>
              <a:buClr>
                <a:srgbClr val="000000"/>
              </a:buClr>
              <a:buSzPts val="1290"/>
              <a:buChar char="●"/>
            </a:pPr>
            <a:r>
              <a:rPr lang="en" sz="1290">
                <a:solidFill>
                  <a:srgbClr val="000000"/>
                </a:solidFill>
                <a:highlight>
                  <a:schemeClr val="lt1"/>
                </a:highlight>
              </a:rPr>
              <a:t>The best model found was ARIMA(5, 0, 1)(2, 1, 1, 7), which means this was the model with the strongest fit without overfitting. It captures both short-term AR and MA dynamics and weekly seasonality (m = 7). Selected through AIC minimization (AIC = 4741.5)</a:t>
            </a:r>
            <a:endParaRPr sz="1290">
              <a:solidFill>
                <a:srgbClr val="000000"/>
              </a:solidFill>
              <a:highlight>
                <a:schemeClr val="lt1"/>
              </a:highlight>
            </a:endParaRPr>
          </a:p>
        </p:txBody>
      </p:sp>
      <p:pic>
        <p:nvPicPr>
          <p:cNvPr id="112" name="Google Shape;112;p21"/>
          <p:cNvPicPr preferRelativeResize="0"/>
          <p:nvPr/>
        </p:nvPicPr>
        <p:blipFill>
          <a:blip r:embed="rId3">
            <a:alphaModFix/>
          </a:blip>
          <a:stretch>
            <a:fillRect/>
          </a:stretch>
        </p:blipFill>
        <p:spPr>
          <a:xfrm>
            <a:off x="5073700" y="2295075"/>
            <a:ext cx="3929423" cy="2455449"/>
          </a:xfrm>
          <a:prstGeom prst="rect">
            <a:avLst/>
          </a:prstGeom>
          <a:noFill/>
          <a:ln>
            <a:noFill/>
          </a:ln>
        </p:spPr>
      </p:pic>
      <p:pic>
        <p:nvPicPr>
          <p:cNvPr id="113" name="Google Shape;113;p21"/>
          <p:cNvPicPr preferRelativeResize="0"/>
          <p:nvPr/>
        </p:nvPicPr>
        <p:blipFill>
          <a:blip r:embed="rId4">
            <a:alphaModFix/>
          </a:blip>
          <a:stretch>
            <a:fillRect/>
          </a:stretch>
        </p:blipFill>
        <p:spPr>
          <a:xfrm>
            <a:off x="91900" y="2295075"/>
            <a:ext cx="4981799" cy="2455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33853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Baseline Model </a:t>
            </a:r>
            <a:r>
              <a:rPr b="1" lang="en"/>
              <a:t>Forecast Accuracy</a:t>
            </a:r>
            <a:endParaRPr b="1"/>
          </a:p>
        </p:txBody>
      </p:sp>
      <p:sp>
        <p:nvSpPr>
          <p:cNvPr id="119" name="Google Shape;119;p22"/>
          <p:cNvSpPr txBox="1"/>
          <p:nvPr>
            <p:ph idx="1" type="body"/>
          </p:nvPr>
        </p:nvSpPr>
        <p:spPr>
          <a:xfrm>
            <a:off x="403050" y="911250"/>
            <a:ext cx="8136600" cy="2283900"/>
          </a:xfrm>
          <a:prstGeom prst="rect">
            <a:avLst/>
          </a:prstGeom>
        </p:spPr>
        <p:txBody>
          <a:bodyPr anchorCtr="0" anchor="t" bIns="91425" lIns="91425" spcFirstLastPara="1" rIns="91425" wrap="square" tIns="91425">
            <a:noAutofit/>
          </a:bodyPr>
          <a:lstStyle/>
          <a:p>
            <a:pPr indent="-307975" lvl="0" marL="457200" rtl="0" algn="l">
              <a:spcBef>
                <a:spcPts val="1200"/>
              </a:spcBef>
              <a:spcAft>
                <a:spcPts val="0"/>
              </a:spcAft>
              <a:buClr>
                <a:schemeClr val="dk1"/>
              </a:buClr>
              <a:buSzPts val="1250"/>
              <a:buChar char="●"/>
            </a:pPr>
            <a:r>
              <a:rPr b="1" lang="en" sz="1250">
                <a:solidFill>
                  <a:schemeClr val="dk1"/>
                </a:solidFill>
              </a:rPr>
              <a:t>MAE: </a:t>
            </a:r>
            <a:r>
              <a:rPr lang="en" sz="1250">
                <a:solidFill>
                  <a:schemeClr val="dk1"/>
                </a:solidFill>
              </a:rPr>
              <a:t>1,090.91</a:t>
            </a:r>
            <a:endParaRPr sz="1250">
              <a:solidFill>
                <a:schemeClr val="dk1"/>
              </a:solidFill>
            </a:endParaRPr>
          </a:p>
          <a:p>
            <a:pPr indent="-307975" lvl="0" marL="457200" rtl="0" algn="l">
              <a:spcBef>
                <a:spcPts val="0"/>
              </a:spcBef>
              <a:spcAft>
                <a:spcPts val="0"/>
              </a:spcAft>
              <a:buClr>
                <a:schemeClr val="dk1"/>
              </a:buClr>
              <a:buSzPts val="1250"/>
              <a:buChar char="●"/>
            </a:pPr>
            <a:r>
              <a:rPr b="1" lang="en" sz="1250">
                <a:solidFill>
                  <a:schemeClr val="dk1"/>
                </a:solidFill>
              </a:rPr>
              <a:t>RMSE: </a:t>
            </a:r>
            <a:r>
              <a:rPr lang="en" sz="1250">
                <a:solidFill>
                  <a:schemeClr val="dk1"/>
                </a:solidFill>
              </a:rPr>
              <a:t>1,233.15</a:t>
            </a:r>
            <a:endParaRPr b="1" sz="1250">
              <a:solidFill>
                <a:schemeClr val="dk1"/>
              </a:solidFill>
            </a:endParaRPr>
          </a:p>
          <a:p>
            <a:pPr indent="-307975" lvl="0" marL="457200" rtl="0" algn="l">
              <a:spcBef>
                <a:spcPts val="0"/>
              </a:spcBef>
              <a:spcAft>
                <a:spcPts val="0"/>
              </a:spcAft>
              <a:buClr>
                <a:schemeClr val="dk1"/>
              </a:buClr>
              <a:buSzPts val="1250"/>
              <a:buChar char="●"/>
            </a:pPr>
            <a:r>
              <a:rPr lang="en" sz="1250">
                <a:solidFill>
                  <a:schemeClr val="dk1"/>
                </a:solidFill>
              </a:rPr>
              <a:t>The baseline Auto-ARIMA model performed reasonably well</a:t>
            </a:r>
            <a:endParaRPr sz="1250">
              <a:solidFill>
                <a:schemeClr val="dk1"/>
              </a:solidFill>
            </a:endParaRPr>
          </a:p>
          <a:p>
            <a:pPr indent="-307975" lvl="0" marL="457200" rtl="0" algn="l">
              <a:spcBef>
                <a:spcPts val="0"/>
              </a:spcBef>
              <a:spcAft>
                <a:spcPts val="0"/>
              </a:spcAft>
              <a:buClr>
                <a:schemeClr val="dk1"/>
              </a:buClr>
              <a:buSzPts val="1250"/>
              <a:buChar char="●"/>
            </a:pPr>
            <a:r>
              <a:rPr lang="en" sz="1250">
                <a:solidFill>
                  <a:schemeClr val="dk1"/>
                </a:solidFill>
              </a:rPr>
              <a:t>To improve accuracy we could:</a:t>
            </a:r>
            <a:endParaRPr sz="1250">
              <a:solidFill>
                <a:schemeClr val="dk1"/>
              </a:solidFill>
            </a:endParaRPr>
          </a:p>
          <a:p>
            <a:pPr indent="-307975" lvl="1" marL="914400" rtl="0" algn="l">
              <a:spcBef>
                <a:spcPts val="0"/>
              </a:spcBef>
              <a:spcAft>
                <a:spcPts val="0"/>
              </a:spcAft>
              <a:buClr>
                <a:schemeClr val="dk1"/>
              </a:buClr>
              <a:buSzPts val="1250"/>
              <a:buChar char="○"/>
            </a:pPr>
            <a:r>
              <a:rPr lang="en" sz="1250">
                <a:solidFill>
                  <a:schemeClr val="dk1"/>
                </a:solidFill>
              </a:rPr>
              <a:t>Broaden the grid search parameter ranges (p, d, q, P, D, Q) to explore different model structures</a:t>
            </a:r>
            <a:endParaRPr sz="1250">
              <a:solidFill>
                <a:schemeClr val="dk1"/>
              </a:solidFill>
            </a:endParaRPr>
          </a:p>
          <a:p>
            <a:pPr indent="-307975" lvl="1" marL="914400" rtl="0" algn="l">
              <a:spcBef>
                <a:spcPts val="0"/>
              </a:spcBef>
              <a:spcAft>
                <a:spcPts val="0"/>
              </a:spcAft>
              <a:buClr>
                <a:schemeClr val="dk1"/>
              </a:buClr>
              <a:buSzPts val="1250"/>
              <a:buChar char="○"/>
            </a:pPr>
            <a:r>
              <a:rPr lang="en" sz="1250">
                <a:solidFill>
                  <a:schemeClr val="dk1"/>
                </a:solidFill>
              </a:rPr>
              <a:t>Introduce data transformations or exogenous predictors to test for external influences</a:t>
            </a:r>
            <a:endParaRPr sz="1250">
              <a:solidFill>
                <a:schemeClr val="dk1"/>
              </a:solidFill>
            </a:endParaRPr>
          </a:p>
        </p:txBody>
      </p:sp>
      <p:pic>
        <p:nvPicPr>
          <p:cNvPr id="120" name="Google Shape;120;p22" title="Screenshot 2025-10-31 at 03.13.19.png"/>
          <p:cNvPicPr preferRelativeResize="0"/>
          <p:nvPr/>
        </p:nvPicPr>
        <p:blipFill rotWithShape="1">
          <a:blip r:embed="rId3">
            <a:alphaModFix/>
          </a:blip>
          <a:srcRect b="0" l="0" r="0" t="13360"/>
          <a:stretch/>
        </p:blipFill>
        <p:spPr>
          <a:xfrm>
            <a:off x="549500" y="2982975"/>
            <a:ext cx="7843676" cy="1097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Improving </a:t>
            </a:r>
            <a:r>
              <a:rPr b="1" lang="en"/>
              <a:t>predictions: </a:t>
            </a:r>
            <a:endParaRPr b="1"/>
          </a:p>
          <a:p>
            <a:pPr indent="0" lvl="0" marL="0" rtl="0" algn="l">
              <a:spcBef>
                <a:spcPts val="0"/>
              </a:spcBef>
              <a:spcAft>
                <a:spcPts val="0"/>
              </a:spcAft>
              <a:buClr>
                <a:schemeClr val="dk1"/>
              </a:buClr>
              <a:buSzPct val="54396"/>
              <a:buFont typeface="Arial"/>
              <a:buNone/>
            </a:pPr>
            <a:r>
              <a:rPr b="1" lang="en" sz="2022"/>
              <a:t>Version 2: Broader more Seasonal Grid (p/q)</a:t>
            </a:r>
            <a:endParaRPr b="1" sz="2022"/>
          </a:p>
        </p:txBody>
      </p:sp>
      <p:sp>
        <p:nvSpPr>
          <p:cNvPr id="126" name="Google Shape;126;p23"/>
          <p:cNvSpPr txBox="1"/>
          <p:nvPr/>
        </p:nvSpPr>
        <p:spPr>
          <a:xfrm>
            <a:off x="415250" y="1477275"/>
            <a:ext cx="8134500" cy="3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27" name="Google Shape;127;p23"/>
          <p:cNvPicPr preferRelativeResize="0"/>
          <p:nvPr/>
        </p:nvPicPr>
        <p:blipFill>
          <a:blip r:embed="rId3">
            <a:alphaModFix/>
          </a:blip>
          <a:stretch>
            <a:fillRect/>
          </a:stretch>
        </p:blipFill>
        <p:spPr>
          <a:xfrm>
            <a:off x="193500" y="1413550"/>
            <a:ext cx="7547350" cy="3472150"/>
          </a:xfrm>
          <a:prstGeom prst="rect">
            <a:avLst/>
          </a:prstGeom>
          <a:noFill/>
          <a:ln>
            <a:noFill/>
          </a:ln>
        </p:spPr>
      </p:pic>
      <p:pic>
        <p:nvPicPr>
          <p:cNvPr id="128" name="Google Shape;128;p23" title="Screenshot 2025-10-31 at 9.28.27 AM.png"/>
          <p:cNvPicPr preferRelativeResize="0"/>
          <p:nvPr/>
        </p:nvPicPr>
        <p:blipFill>
          <a:blip r:embed="rId4">
            <a:alphaModFix/>
          </a:blip>
          <a:stretch>
            <a:fillRect/>
          </a:stretch>
        </p:blipFill>
        <p:spPr>
          <a:xfrm>
            <a:off x="5705350" y="135900"/>
            <a:ext cx="3283250" cy="2182925"/>
          </a:xfrm>
          <a:prstGeom prst="rect">
            <a:avLst/>
          </a:prstGeom>
          <a:noFill/>
          <a:ln>
            <a:noFill/>
          </a:ln>
        </p:spPr>
      </p:pic>
      <p:sp>
        <p:nvSpPr>
          <p:cNvPr id="129" name="Google Shape;129;p23"/>
          <p:cNvSpPr txBox="1"/>
          <p:nvPr/>
        </p:nvSpPr>
        <p:spPr>
          <a:xfrm>
            <a:off x="374750" y="1131075"/>
            <a:ext cx="30000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1F1F1F"/>
                </a:solidFill>
                <a:highlight>
                  <a:srgbClr val="FFFFFF"/>
                </a:highlight>
                <a:latin typeface="Courier New"/>
                <a:ea typeface="Courier New"/>
                <a:cs typeface="Courier New"/>
                <a:sym typeface="Courier New"/>
              </a:rPr>
              <a:t>ARIMA(0,1,1)(2,1,0)[7]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Improving predictions: </a:t>
            </a:r>
            <a:endParaRPr b="1"/>
          </a:p>
          <a:p>
            <a:pPr indent="0" lvl="0" marL="0" rtl="0" algn="l">
              <a:spcBef>
                <a:spcPts val="0"/>
              </a:spcBef>
              <a:spcAft>
                <a:spcPts val="0"/>
              </a:spcAft>
              <a:buClr>
                <a:schemeClr val="dk1"/>
              </a:buClr>
              <a:buSzPct val="54396"/>
              <a:buFont typeface="Arial"/>
              <a:buNone/>
            </a:pPr>
            <a:r>
              <a:rPr b="1" lang="en" sz="2022"/>
              <a:t>Version 3: Adding Exogenous Variables</a:t>
            </a:r>
            <a:endParaRPr b="1" sz="2022"/>
          </a:p>
        </p:txBody>
      </p:sp>
      <p:sp>
        <p:nvSpPr>
          <p:cNvPr id="135" name="Google Shape;135;p24"/>
          <p:cNvSpPr txBox="1"/>
          <p:nvPr/>
        </p:nvSpPr>
        <p:spPr>
          <a:xfrm>
            <a:off x="415250" y="1477275"/>
            <a:ext cx="8134500" cy="3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36" name="Google Shape;136;p24"/>
          <p:cNvSpPr txBox="1"/>
          <p:nvPr/>
        </p:nvSpPr>
        <p:spPr>
          <a:xfrm>
            <a:off x="5549750" y="445025"/>
            <a:ext cx="30000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1F1F1F"/>
                </a:solidFill>
                <a:highlight>
                  <a:srgbClr val="FFFFFF"/>
                </a:highlight>
                <a:latin typeface="Courier New"/>
                <a:ea typeface="Courier New"/>
                <a:cs typeface="Courier New"/>
                <a:sym typeface="Courier New"/>
              </a:rPr>
              <a:t>Order: (5, 0, 1)</a:t>
            </a:r>
            <a:endParaRPr sz="1050">
              <a:solidFill>
                <a:srgbClr val="1F1F1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050">
                <a:solidFill>
                  <a:srgbClr val="1F1F1F"/>
                </a:solidFill>
                <a:highlight>
                  <a:srgbClr val="FFFFFF"/>
                </a:highlight>
                <a:latin typeface="Courier New"/>
                <a:ea typeface="Courier New"/>
                <a:cs typeface="Courier New"/>
                <a:sym typeface="Courier New"/>
              </a:rPr>
              <a:t>Seasonal order: (2, 1, 1, 7)</a:t>
            </a:r>
            <a:endParaRPr sz="1050">
              <a:solidFill>
                <a:srgbClr val="1F1F1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050">
              <a:solidFill>
                <a:srgbClr val="1F1F1F"/>
              </a:solidFill>
              <a:highlight>
                <a:srgbClr val="FFFFFF"/>
              </a:highlight>
              <a:latin typeface="Courier New"/>
              <a:ea typeface="Courier New"/>
              <a:cs typeface="Courier New"/>
              <a:sym typeface="Courier New"/>
            </a:endParaRPr>
          </a:p>
        </p:txBody>
      </p:sp>
      <p:pic>
        <p:nvPicPr>
          <p:cNvPr id="137" name="Google Shape;137;p24"/>
          <p:cNvPicPr preferRelativeResize="0"/>
          <p:nvPr/>
        </p:nvPicPr>
        <p:blipFill>
          <a:blip r:embed="rId3">
            <a:alphaModFix/>
          </a:blip>
          <a:stretch>
            <a:fillRect/>
          </a:stretch>
        </p:blipFill>
        <p:spPr>
          <a:xfrm>
            <a:off x="650113" y="1784473"/>
            <a:ext cx="6541425" cy="3037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Version 3 Analysis</a:t>
            </a:r>
            <a:endParaRPr b="1"/>
          </a:p>
        </p:txBody>
      </p:sp>
      <p:sp>
        <p:nvSpPr>
          <p:cNvPr id="143" name="Google Shape;143;p25"/>
          <p:cNvSpPr txBox="1"/>
          <p:nvPr>
            <p:ph idx="1" type="body"/>
          </p:nvPr>
        </p:nvSpPr>
        <p:spPr>
          <a:xfrm>
            <a:off x="311700" y="1152475"/>
            <a:ext cx="4824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For model 3, we observed that the added exogenous variable parameter resulted in the same order as the baseline model/ This </a:t>
            </a:r>
            <a:r>
              <a:rPr lang="en" sz="1500">
                <a:solidFill>
                  <a:schemeClr val="dk1"/>
                </a:solidFill>
              </a:rPr>
              <a:t>suggests that external predictors didn’t provide additional explanatory power beyond what we already capture in the time series.</a:t>
            </a:r>
            <a:endParaRPr sz="1500">
              <a:solidFill>
                <a:schemeClr val="dk1"/>
              </a:solidFill>
            </a:endParaRPr>
          </a:p>
          <a:p>
            <a:pPr indent="-342900" lvl="0" marL="457200" rtl="0" algn="l">
              <a:spcBef>
                <a:spcPts val="0"/>
              </a:spcBef>
              <a:spcAft>
                <a:spcPts val="0"/>
              </a:spcAft>
              <a:buClr>
                <a:schemeClr val="dk1"/>
              </a:buClr>
              <a:buSzPts val="1800"/>
              <a:buChar char="●"/>
            </a:pPr>
            <a:r>
              <a:rPr lang="en" sz="1500">
                <a:solidFill>
                  <a:schemeClr val="dk1"/>
                </a:solidFill>
              </a:rPr>
              <a:t>It did however reduce the AIC which helped simplify the model and reduce the overfitting.</a:t>
            </a:r>
            <a:endParaRPr sz="1500">
              <a:solidFill>
                <a:schemeClr val="dk1"/>
              </a:solidFill>
            </a:endParaRPr>
          </a:p>
        </p:txBody>
      </p:sp>
      <p:pic>
        <p:nvPicPr>
          <p:cNvPr id="144" name="Google Shape;144;p25"/>
          <p:cNvPicPr preferRelativeResize="0"/>
          <p:nvPr/>
        </p:nvPicPr>
        <p:blipFill>
          <a:blip r:embed="rId3">
            <a:alphaModFix/>
          </a:blip>
          <a:stretch>
            <a:fillRect/>
          </a:stretch>
        </p:blipFill>
        <p:spPr>
          <a:xfrm>
            <a:off x="5367644" y="1047137"/>
            <a:ext cx="3328574" cy="1545625"/>
          </a:xfrm>
          <a:prstGeom prst="rect">
            <a:avLst/>
          </a:prstGeom>
          <a:noFill/>
          <a:ln>
            <a:noFill/>
          </a:ln>
        </p:spPr>
      </p:pic>
      <p:pic>
        <p:nvPicPr>
          <p:cNvPr id="145" name="Google Shape;145;p25" title="Screenshot 2025-10-31 at 9.58.04 AM.png"/>
          <p:cNvPicPr preferRelativeResize="0"/>
          <p:nvPr/>
        </p:nvPicPr>
        <p:blipFill>
          <a:blip r:embed="rId4">
            <a:alphaModFix/>
          </a:blip>
          <a:stretch>
            <a:fillRect/>
          </a:stretch>
        </p:blipFill>
        <p:spPr>
          <a:xfrm>
            <a:off x="5647463" y="2699950"/>
            <a:ext cx="2768950" cy="2338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4396"/>
              <a:buFont typeface="Arial"/>
              <a:buNone/>
            </a:pPr>
            <a:r>
              <a:rPr b="1" lang="en"/>
              <a:t>Comparison Table</a:t>
            </a:r>
            <a:endParaRPr b="1" sz="2022"/>
          </a:p>
        </p:txBody>
      </p:sp>
      <p:graphicFrame>
        <p:nvGraphicFramePr>
          <p:cNvPr id="151" name="Google Shape;151;p26"/>
          <p:cNvGraphicFramePr/>
          <p:nvPr/>
        </p:nvGraphicFramePr>
        <p:xfrm>
          <a:off x="993375" y="1017725"/>
          <a:ext cx="3000000" cy="3000000"/>
        </p:xfrm>
        <a:graphic>
          <a:graphicData uri="http://schemas.openxmlformats.org/drawingml/2006/table">
            <a:tbl>
              <a:tblPr>
                <a:noFill/>
                <a:tableStyleId>{575A240E-EA89-4799-8064-748D46E3D124}</a:tableStyleId>
              </a:tblPr>
              <a:tblGrid>
                <a:gridCol w="1066800"/>
                <a:gridCol w="2806975"/>
                <a:gridCol w="1095300"/>
                <a:gridCol w="1029800"/>
                <a:gridCol w="1081050"/>
              </a:tblGrid>
              <a:tr h="381000">
                <a:tc>
                  <a:txBody>
                    <a:bodyPr/>
                    <a:lstStyle/>
                    <a:p>
                      <a:pPr indent="0" lvl="0" marL="0" rtl="0" algn="l">
                        <a:spcBef>
                          <a:spcPts val="0"/>
                        </a:spcBef>
                        <a:spcAft>
                          <a:spcPts val="0"/>
                        </a:spcAft>
                        <a:buNone/>
                      </a:pPr>
                      <a:r>
                        <a:rPr lang="en"/>
                        <a:t>Model</a:t>
                      </a:r>
                      <a:endParaRPr/>
                    </a:p>
                  </a:txBody>
                  <a:tcPr marT="91425" marB="91425" marR="91425" marL="91425"/>
                </a:tc>
                <a:tc>
                  <a:txBody>
                    <a:bodyPr/>
                    <a:lstStyle/>
                    <a:p>
                      <a:pPr indent="0" lvl="0" marL="0" rtl="0" algn="l">
                        <a:spcBef>
                          <a:spcPts val="0"/>
                        </a:spcBef>
                        <a:spcAft>
                          <a:spcPts val="0"/>
                        </a:spcAft>
                        <a:buNone/>
                      </a:pPr>
                      <a:r>
                        <a:rPr lang="en"/>
                        <a:t>Change we made </a:t>
                      </a:r>
                      <a:endParaRPr/>
                    </a:p>
                  </a:txBody>
                  <a:tcPr marT="91425" marB="91425" marR="91425" marL="91425"/>
                </a:tc>
                <a:tc>
                  <a:txBody>
                    <a:bodyPr/>
                    <a:lstStyle/>
                    <a:p>
                      <a:pPr indent="0" lvl="0" marL="0" rtl="0" algn="l">
                        <a:spcBef>
                          <a:spcPts val="0"/>
                        </a:spcBef>
                        <a:spcAft>
                          <a:spcPts val="0"/>
                        </a:spcAft>
                        <a:buNone/>
                      </a:pPr>
                      <a:r>
                        <a:rPr lang="en"/>
                        <a:t>AIC </a:t>
                      </a:r>
                      <a:endParaRPr/>
                    </a:p>
                  </a:txBody>
                  <a:tcPr marT="91425" marB="91425" marR="91425" marL="91425"/>
                </a:tc>
                <a:tc>
                  <a:txBody>
                    <a:bodyPr/>
                    <a:lstStyle/>
                    <a:p>
                      <a:pPr indent="0" lvl="0" marL="0" rtl="0" algn="l">
                        <a:spcBef>
                          <a:spcPts val="0"/>
                        </a:spcBef>
                        <a:spcAft>
                          <a:spcPts val="0"/>
                        </a:spcAft>
                        <a:buNone/>
                      </a:pPr>
                      <a:r>
                        <a:rPr lang="en"/>
                        <a:t>RMSE </a:t>
                      </a:r>
                      <a:endParaRPr/>
                    </a:p>
                  </a:txBody>
                  <a:tcPr marT="91425" marB="91425" marR="91425" marL="91425"/>
                </a:tc>
                <a:tc>
                  <a:txBody>
                    <a:bodyPr/>
                    <a:lstStyle/>
                    <a:p>
                      <a:pPr indent="0" lvl="0" marL="0" rtl="0" algn="l">
                        <a:spcBef>
                          <a:spcPts val="0"/>
                        </a:spcBef>
                        <a:spcAft>
                          <a:spcPts val="0"/>
                        </a:spcAft>
                        <a:buNone/>
                      </a:pPr>
                      <a:r>
                        <a:rPr lang="en"/>
                        <a:t>MAE</a:t>
                      </a:r>
                      <a:endParaRPr/>
                    </a:p>
                  </a:txBody>
                  <a:tcPr marT="91425" marB="91425" marR="91425" marL="91425"/>
                </a:tc>
              </a:tr>
              <a:tr h="381000">
                <a:tc>
                  <a:txBody>
                    <a:bodyPr/>
                    <a:lstStyle/>
                    <a:p>
                      <a:pPr indent="0" lvl="0" marL="0" rtl="0" algn="l">
                        <a:spcBef>
                          <a:spcPts val="0"/>
                        </a:spcBef>
                        <a:spcAft>
                          <a:spcPts val="0"/>
                        </a:spcAft>
                        <a:buNone/>
                      </a:pPr>
                      <a:r>
                        <a:rPr lang="en"/>
                        <a:t>Baseline Model</a:t>
                      </a:r>
                      <a:endParaRPr/>
                    </a:p>
                  </a:txBody>
                  <a:tcPr marT="91425" marB="91425" marR="91425" marL="91425"/>
                </a:tc>
                <a:tc>
                  <a:txBody>
                    <a:bodyPr/>
                    <a:lstStyle/>
                    <a:p>
                      <a:pPr indent="0" lvl="0" marL="0" rtl="0" algn="l">
                        <a:lnSpc>
                          <a:spcPct val="135714"/>
                        </a:lnSpc>
                        <a:spcBef>
                          <a:spcPts val="0"/>
                        </a:spcBef>
                        <a:spcAft>
                          <a:spcPts val="0"/>
                        </a:spcAft>
                        <a:buNone/>
                      </a:pPr>
                      <a:r>
                        <a:rPr lang="en"/>
                        <a:t>p range 1-5</a:t>
                      </a:r>
                      <a:endParaRPr/>
                    </a:p>
                    <a:p>
                      <a:pPr indent="0" lvl="0" marL="0" rtl="0" algn="l">
                        <a:lnSpc>
                          <a:spcPct val="135714"/>
                        </a:lnSpc>
                        <a:spcBef>
                          <a:spcPts val="0"/>
                        </a:spcBef>
                        <a:spcAft>
                          <a:spcPts val="0"/>
                        </a:spcAft>
                        <a:buNone/>
                      </a:pPr>
                      <a:r>
                        <a:rPr lang="en"/>
                        <a:t>q range 1-5</a:t>
                      </a:r>
                      <a:endParaRPr/>
                    </a:p>
                    <a:p>
                      <a:pPr indent="0" lvl="0" marL="0" rtl="0" algn="l">
                        <a:lnSpc>
                          <a:spcPct val="135714"/>
                        </a:lnSpc>
                        <a:spcBef>
                          <a:spcPts val="0"/>
                        </a:spcBef>
                        <a:spcAft>
                          <a:spcPts val="0"/>
                        </a:spcAft>
                        <a:buNone/>
                      </a:pPr>
                      <a:r>
                        <a:rPr lang="en"/>
                        <a:t>P range 0-5</a:t>
                      </a:r>
                      <a:endParaRPr/>
                    </a:p>
                    <a:p>
                      <a:pPr indent="0" lvl="0" marL="0" rtl="0" algn="l">
                        <a:lnSpc>
                          <a:spcPct val="135714"/>
                        </a:lnSpc>
                        <a:spcBef>
                          <a:spcPts val="0"/>
                        </a:spcBef>
                        <a:spcAft>
                          <a:spcPts val="0"/>
                        </a:spcAft>
                        <a:buNone/>
                      </a:pPr>
                      <a:r>
                        <a:rPr lang="en"/>
                        <a:t>d = none, D =1</a:t>
                      </a:r>
                      <a:endParaRPr/>
                    </a:p>
                  </a:txBody>
                  <a:tcPr marT="91425" marB="91425" marR="91425" marL="91425"/>
                </a:tc>
                <a:tc>
                  <a:txBody>
                    <a:bodyPr/>
                    <a:lstStyle/>
                    <a:p>
                      <a:pPr indent="0" lvl="0" marL="0" rtl="0" algn="r">
                        <a:spcBef>
                          <a:spcPts val="0"/>
                        </a:spcBef>
                        <a:spcAft>
                          <a:spcPts val="0"/>
                        </a:spcAft>
                        <a:buNone/>
                      </a:pPr>
                      <a:r>
                        <a:rPr lang="en"/>
                        <a:t>4741.53</a:t>
                      </a:r>
                      <a:endParaRPr/>
                    </a:p>
                  </a:txBody>
                  <a:tcPr marT="91425" marB="91425" marR="91425" marL="91425" anchor="ctr"/>
                </a:tc>
                <a:tc>
                  <a:txBody>
                    <a:bodyPr/>
                    <a:lstStyle/>
                    <a:p>
                      <a:pPr indent="0" lvl="0" marL="0" rtl="0" algn="r">
                        <a:spcBef>
                          <a:spcPts val="0"/>
                        </a:spcBef>
                        <a:spcAft>
                          <a:spcPts val="0"/>
                        </a:spcAft>
                        <a:buNone/>
                      </a:pPr>
                      <a:r>
                        <a:rPr lang="en">
                          <a:solidFill>
                            <a:schemeClr val="dk1"/>
                          </a:solidFill>
                        </a:rPr>
                        <a:t>1233.15</a:t>
                      </a:r>
                      <a:endParaRPr/>
                    </a:p>
                  </a:txBody>
                  <a:tcPr marT="91425" marB="91425" marR="91425" marL="91425" anchor="ctr"/>
                </a:tc>
                <a:tc>
                  <a:txBody>
                    <a:bodyPr/>
                    <a:lstStyle/>
                    <a:p>
                      <a:pPr indent="0" lvl="0" marL="0" rtl="0" algn="r">
                        <a:spcBef>
                          <a:spcPts val="0"/>
                        </a:spcBef>
                        <a:spcAft>
                          <a:spcPts val="0"/>
                        </a:spcAft>
                        <a:buNone/>
                      </a:pPr>
                      <a:r>
                        <a:rPr lang="en">
                          <a:solidFill>
                            <a:schemeClr val="dk1"/>
                          </a:solidFill>
                        </a:rPr>
                        <a:t>1090.91</a:t>
                      </a:r>
                      <a:endParaRPr/>
                    </a:p>
                  </a:txBody>
                  <a:tcPr marT="91425" marB="91425" marR="91425" marL="91425" anchor="ctr"/>
                </a:tc>
              </a:tr>
              <a:tr h="381000">
                <a:tc>
                  <a:txBody>
                    <a:bodyPr/>
                    <a:lstStyle/>
                    <a:p>
                      <a:pPr indent="0" lvl="0" marL="0" rtl="0" algn="l">
                        <a:spcBef>
                          <a:spcPts val="0"/>
                        </a:spcBef>
                        <a:spcAft>
                          <a:spcPts val="0"/>
                        </a:spcAft>
                        <a:buNone/>
                      </a:pPr>
                      <a:r>
                        <a:rPr lang="en"/>
                        <a:t>Version 2: </a:t>
                      </a:r>
                      <a:endParaRPr/>
                    </a:p>
                  </a:txBody>
                  <a:tcPr marT="91425" marB="91425" marR="91425" marL="91425"/>
                </a:tc>
                <a:tc>
                  <a:txBody>
                    <a:bodyPr/>
                    <a:lstStyle/>
                    <a:p>
                      <a:pPr indent="0" lvl="0" marL="0" rtl="0" algn="l">
                        <a:lnSpc>
                          <a:spcPct val="135714"/>
                        </a:lnSpc>
                        <a:spcBef>
                          <a:spcPts val="0"/>
                        </a:spcBef>
                        <a:spcAft>
                          <a:spcPts val="0"/>
                        </a:spcAft>
                        <a:buNone/>
                      </a:pPr>
                      <a:r>
                        <a:rPr lang="en"/>
                        <a:t>p range 0-3</a:t>
                      </a:r>
                      <a:endParaRPr/>
                    </a:p>
                    <a:p>
                      <a:pPr indent="0" lvl="0" marL="0" rtl="0" algn="l">
                        <a:lnSpc>
                          <a:spcPct val="135714"/>
                        </a:lnSpc>
                        <a:spcBef>
                          <a:spcPts val="0"/>
                        </a:spcBef>
                        <a:spcAft>
                          <a:spcPts val="0"/>
                        </a:spcAft>
                        <a:buNone/>
                      </a:pPr>
                      <a:r>
                        <a:rPr lang="en"/>
                        <a:t>q range 0-3</a:t>
                      </a:r>
                      <a:endParaRPr/>
                    </a:p>
                    <a:p>
                      <a:pPr indent="0" lvl="0" marL="0" rtl="0" algn="l">
                        <a:lnSpc>
                          <a:spcPct val="135714"/>
                        </a:lnSpc>
                        <a:spcBef>
                          <a:spcPts val="0"/>
                        </a:spcBef>
                        <a:spcAft>
                          <a:spcPts val="0"/>
                        </a:spcAft>
                        <a:buNone/>
                      </a:pPr>
                      <a:r>
                        <a:rPr lang="en"/>
                        <a:t>P range 0-2</a:t>
                      </a:r>
                      <a:endParaRPr/>
                    </a:p>
                    <a:p>
                      <a:pPr indent="0" lvl="0" marL="0" rtl="0" algn="l">
                        <a:lnSpc>
                          <a:spcPct val="135714"/>
                        </a:lnSpc>
                        <a:spcBef>
                          <a:spcPts val="0"/>
                        </a:spcBef>
                        <a:spcAft>
                          <a:spcPts val="0"/>
                        </a:spcAft>
                        <a:buNone/>
                      </a:pPr>
                      <a:r>
                        <a:rPr lang="en"/>
                        <a:t>Q range 0-2</a:t>
                      </a:r>
                      <a:endParaRPr/>
                    </a:p>
                  </a:txBody>
                  <a:tcPr marT="91425" marB="91425" marR="91425" marL="91425"/>
                </a:tc>
                <a:tc>
                  <a:txBody>
                    <a:bodyPr/>
                    <a:lstStyle/>
                    <a:p>
                      <a:pPr indent="0" lvl="0" marL="0" rtl="0" algn="r">
                        <a:spcBef>
                          <a:spcPts val="0"/>
                        </a:spcBef>
                        <a:spcAft>
                          <a:spcPts val="0"/>
                        </a:spcAft>
                        <a:buNone/>
                      </a:pPr>
                      <a:r>
                        <a:rPr lang="en"/>
                        <a:t>4709.17</a:t>
                      </a:r>
                      <a:endParaRPr/>
                    </a:p>
                  </a:txBody>
                  <a:tcPr marT="91425" marB="91425" marR="91425" marL="91425" anchor="ctr"/>
                </a:tc>
                <a:tc>
                  <a:txBody>
                    <a:bodyPr/>
                    <a:lstStyle/>
                    <a:p>
                      <a:pPr indent="0" lvl="0" marL="0" rtl="0" algn="r">
                        <a:spcBef>
                          <a:spcPts val="0"/>
                        </a:spcBef>
                        <a:spcAft>
                          <a:spcPts val="0"/>
                        </a:spcAft>
                        <a:buNone/>
                      </a:pPr>
                      <a:r>
                        <a:rPr lang="en">
                          <a:solidFill>
                            <a:schemeClr val="dk1"/>
                          </a:solidFill>
                        </a:rPr>
                        <a:t>2063.00</a:t>
                      </a:r>
                      <a:endParaRPr/>
                    </a:p>
                  </a:txBody>
                  <a:tcPr marT="91425" marB="91425" marR="91425" marL="91425" anchor="ctr"/>
                </a:tc>
                <a:tc>
                  <a:txBody>
                    <a:bodyPr/>
                    <a:lstStyle/>
                    <a:p>
                      <a:pPr indent="0" lvl="0" marL="0" rtl="0" algn="r">
                        <a:spcBef>
                          <a:spcPts val="0"/>
                        </a:spcBef>
                        <a:spcAft>
                          <a:spcPts val="0"/>
                        </a:spcAft>
                        <a:buNone/>
                      </a:pPr>
                      <a:r>
                        <a:rPr lang="en">
                          <a:solidFill>
                            <a:schemeClr val="dk1"/>
                          </a:solidFill>
                        </a:rPr>
                        <a:t>1737.37</a:t>
                      </a:r>
                      <a:endParaRPr>
                        <a:solidFill>
                          <a:schemeClr val="dk1"/>
                        </a:solidFill>
                      </a:endParaRPr>
                    </a:p>
                  </a:txBody>
                  <a:tcPr marT="91425" marB="91425" marR="91425" marL="91425" anchor="ctr"/>
                </a:tc>
              </a:tr>
              <a:tr h="618825">
                <a:tc>
                  <a:txBody>
                    <a:bodyPr/>
                    <a:lstStyle/>
                    <a:p>
                      <a:pPr indent="0" lvl="0" marL="0" rtl="0" algn="l">
                        <a:spcBef>
                          <a:spcPts val="0"/>
                        </a:spcBef>
                        <a:spcAft>
                          <a:spcPts val="0"/>
                        </a:spcAft>
                        <a:buNone/>
                      </a:pPr>
                      <a:r>
                        <a:rPr lang="en"/>
                        <a:t>Version 3: </a:t>
                      </a:r>
                      <a:endParaRPr/>
                    </a:p>
                  </a:txBody>
                  <a:tcPr marT="91425" marB="91425" marR="91425" marL="91425"/>
                </a:tc>
                <a:tc>
                  <a:txBody>
                    <a:bodyPr/>
                    <a:lstStyle/>
                    <a:p>
                      <a:pPr indent="0" lvl="0" marL="0" rtl="0" algn="l">
                        <a:spcBef>
                          <a:spcPts val="0"/>
                        </a:spcBef>
                        <a:spcAft>
                          <a:spcPts val="0"/>
                        </a:spcAft>
                        <a:buNone/>
                      </a:pPr>
                      <a:r>
                        <a:rPr lang="en"/>
                        <a:t>ARIMA(5, 0, 1)(2, 1, 1, 7)</a:t>
                      </a:r>
                      <a:endParaRPr/>
                    </a:p>
                    <a:p>
                      <a:pPr indent="0" lvl="0" marL="0" rtl="0" algn="l">
                        <a:spcBef>
                          <a:spcPts val="0"/>
                        </a:spcBef>
                        <a:spcAft>
                          <a:spcPts val="0"/>
                        </a:spcAft>
                        <a:buNone/>
                      </a:pPr>
                      <a:r>
                        <a:rPr lang="en"/>
                        <a:t>With exogenous variables Temperature and Humidity</a:t>
                      </a:r>
                      <a:endParaRPr/>
                    </a:p>
                  </a:txBody>
                  <a:tcPr marT="91425" marB="91425" marR="91425" marL="91425"/>
                </a:tc>
                <a:tc>
                  <a:txBody>
                    <a:bodyPr/>
                    <a:lstStyle/>
                    <a:p>
                      <a:pPr indent="0" lvl="0" marL="0" rtl="0" algn="r">
                        <a:spcBef>
                          <a:spcPts val="0"/>
                        </a:spcBef>
                        <a:spcAft>
                          <a:spcPts val="0"/>
                        </a:spcAft>
                        <a:buNone/>
                      </a:pPr>
                      <a:r>
                        <a:rPr lang="en"/>
                        <a:t>4709.17</a:t>
                      </a:r>
                      <a:endParaRPr/>
                    </a:p>
                  </a:txBody>
                  <a:tcPr marT="91425" marB="91425" marR="91425" marL="91425" anchor="ctr"/>
                </a:tc>
                <a:tc>
                  <a:txBody>
                    <a:bodyPr/>
                    <a:lstStyle/>
                    <a:p>
                      <a:pPr indent="0" lvl="0" marL="0" rtl="0" algn="r">
                        <a:spcBef>
                          <a:spcPts val="0"/>
                        </a:spcBef>
                        <a:spcAft>
                          <a:spcPts val="0"/>
                        </a:spcAft>
                        <a:buClr>
                          <a:schemeClr val="dk1"/>
                        </a:buClr>
                        <a:buSzPts val="1100"/>
                        <a:buFont typeface="Arial"/>
                        <a:buNone/>
                      </a:pPr>
                      <a:r>
                        <a:rPr lang="en">
                          <a:solidFill>
                            <a:schemeClr val="dk1"/>
                          </a:solidFill>
                        </a:rPr>
                        <a:t>1233.15</a:t>
                      </a:r>
                      <a:endParaRPr/>
                    </a:p>
                  </a:txBody>
                  <a:tcPr marT="91425" marB="91425" marR="91425" marL="91425" anchor="ctr"/>
                </a:tc>
                <a:tc>
                  <a:txBody>
                    <a:bodyPr/>
                    <a:lstStyle/>
                    <a:p>
                      <a:pPr indent="0" lvl="0" marL="0" rtl="0" algn="r">
                        <a:spcBef>
                          <a:spcPts val="0"/>
                        </a:spcBef>
                        <a:spcAft>
                          <a:spcPts val="0"/>
                        </a:spcAft>
                        <a:buClr>
                          <a:schemeClr val="dk1"/>
                        </a:buClr>
                        <a:buSzPts val="1100"/>
                        <a:buFont typeface="Arial"/>
                        <a:buNone/>
                      </a:pPr>
                      <a:r>
                        <a:rPr lang="en">
                          <a:solidFill>
                            <a:schemeClr val="dk1"/>
                          </a:solidFill>
                        </a:rPr>
                        <a:t>1090.91</a:t>
                      </a:r>
                      <a:endParaRPr/>
                    </a:p>
                  </a:txBody>
                  <a:tcPr marT="91425" marB="91425" marR="91425" marL="91425" anchor="ctr"/>
                </a:tc>
              </a:tr>
            </a:tbl>
          </a:graphicData>
        </a:graphic>
      </p:graphicFrame>
      <p:sp>
        <p:nvSpPr>
          <p:cNvPr id="152" name="Google Shape;152;p26"/>
          <p:cNvSpPr txBox="1"/>
          <p:nvPr/>
        </p:nvSpPr>
        <p:spPr>
          <a:xfrm>
            <a:off x="5525025" y="423575"/>
            <a:ext cx="2548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Note that all versions were seasonal with m=7</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idx="1" type="body"/>
          </p:nvPr>
        </p:nvSpPr>
        <p:spPr>
          <a:xfrm>
            <a:off x="311700" y="950250"/>
            <a:ext cx="8232600" cy="324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chemeClr val="dk1"/>
                </a:solidFill>
              </a:rPr>
              <a:t>To improve model accuracy, three approaches were tested:</a:t>
            </a:r>
            <a:endParaRPr sz="1150">
              <a:solidFill>
                <a:schemeClr val="dk1"/>
              </a:solidFill>
            </a:endParaRPr>
          </a:p>
          <a:p>
            <a:pPr indent="0" lvl="0" marL="0" rtl="0" algn="l">
              <a:spcBef>
                <a:spcPts val="0"/>
              </a:spcBef>
              <a:spcAft>
                <a:spcPts val="0"/>
              </a:spcAft>
              <a:buNone/>
            </a:pPr>
            <a:r>
              <a:t/>
            </a:r>
            <a:endParaRPr sz="550">
              <a:solidFill>
                <a:schemeClr val="dk1"/>
              </a:solidFill>
            </a:endParaRPr>
          </a:p>
          <a:p>
            <a:pPr indent="0" lvl="0" marL="0" rtl="0" algn="l">
              <a:spcBef>
                <a:spcPts val="0"/>
              </a:spcBef>
              <a:spcAft>
                <a:spcPts val="0"/>
              </a:spcAft>
              <a:buNone/>
            </a:pPr>
            <a:r>
              <a:rPr b="1" lang="en" sz="1150">
                <a:solidFill>
                  <a:schemeClr val="dk1"/>
                </a:solidFill>
              </a:rPr>
              <a:t>Version 1 - Baseline Auto-ARIMA:</a:t>
            </a:r>
            <a:endParaRPr b="1" sz="1150">
              <a:solidFill>
                <a:schemeClr val="dk1"/>
              </a:solidFill>
            </a:endParaRPr>
          </a:p>
          <a:p>
            <a:pPr indent="0" lvl="0" marL="0" rtl="0" algn="l">
              <a:spcBef>
                <a:spcPts val="0"/>
              </a:spcBef>
              <a:spcAft>
                <a:spcPts val="0"/>
              </a:spcAft>
              <a:buNone/>
            </a:pPr>
            <a:r>
              <a:rPr lang="en" sz="1150">
                <a:solidFill>
                  <a:schemeClr val="dk1"/>
                </a:solidFill>
              </a:rPr>
              <a:t>This model used parameter ranges centered around the optimal values identified in Project 3. It achieved strong accuracy, reflected in low RMSE and MAE, but had a higher AIC, suggesting a complex structure relative to the other models.</a:t>
            </a:r>
            <a:endParaRPr sz="1150">
              <a:solidFill>
                <a:schemeClr val="dk1"/>
              </a:solidFill>
            </a:endParaRPr>
          </a:p>
          <a:p>
            <a:pPr indent="0" lvl="0" marL="0" rtl="0" algn="l">
              <a:spcBef>
                <a:spcPts val="0"/>
              </a:spcBef>
              <a:spcAft>
                <a:spcPts val="0"/>
              </a:spcAft>
              <a:buNone/>
            </a:pPr>
            <a:r>
              <a:t/>
            </a:r>
            <a:endParaRPr sz="550">
              <a:solidFill>
                <a:schemeClr val="dk1"/>
              </a:solidFill>
            </a:endParaRPr>
          </a:p>
          <a:p>
            <a:pPr indent="0" lvl="0" marL="0" rtl="0" algn="l">
              <a:spcBef>
                <a:spcPts val="0"/>
              </a:spcBef>
              <a:spcAft>
                <a:spcPts val="0"/>
              </a:spcAft>
              <a:buNone/>
            </a:pPr>
            <a:r>
              <a:rPr b="1" lang="en" sz="1150">
                <a:solidFill>
                  <a:schemeClr val="dk1"/>
                </a:solidFill>
              </a:rPr>
              <a:t>Version 2 - Seasonal Auto-ARIMA (SARIMA-based):</a:t>
            </a:r>
            <a:endParaRPr b="1" sz="1150">
              <a:solidFill>
                <a:schemeClr val="dk1"/>
              </a:solidFill>
            </a:endParaRPr>
          </a:p>
          <a:p>
            <a:pPr indent="0" lvl="0" marL="0" rtl="0" algn="l">
              <a:spcBef>
                <a:spcPts val="0"/>
              </a:spcBef>
              <a:spcAft>
                <a:spcPts val="0"/>
              </a:spcAft>
              <a:buNone/>
            </a:pPr>
            <a:r>
              <a:rPr lang="en" sz="1150">
                <a:solidFill>
                  <a:schemeClr val="dk1"/>
                </a:solidFill>
              </a:rPr>
              <a:t>Introducing weekly seasonality produced a more generalized and smoother fit. While the RMSE increased compared to the baseline, the model achieved a lower AIC, indicating improved simplicity and broader applicability across datasets, and this demonstrated the trade-off between parsimony and model fit.</a:t>
            </a:r>
            <a:endParaRPr sz="1150">
              <a:solidFill>
                <a:schemeClr val="dk1"/>
              </a:solidFill>
            </a:endParaRPr>
          </a:p>
          <a:p>
            <a:pPr indent="0" lvl="0" marL="0" rtl="0" algn="l">
              <a:spcBef>
                <a:spcPts val="0"/>
              </a:spcBef>
              <a:spcAft>
                <a:spcPts val="0"/>
              </a:spcAft>
              <a:buNone/>
            </a:pPr>
            <a:r>
              <a:t/>
            </a:r>
            <a:endParaRPr sz="550">
              <a:solidFill>
                <a:schemeClr val="dk1"/>
              </a:solidFill>
            </a:endParaRPr>
          </a:p>
          <a:p>
            <a:pPr indent="0" lvl="0" marL="0" rtl="0" algn="l">
              <a:spcBef>
                <a:spcPts val="0"/>
              </a:spcBef>
              <a:spcAft>
                <a:spcPts val="0"/>
              </a:spcAft>
              <a:buNone/>
            </a:pPr>
            <a:r>
              <a:rPr b="1" lang="en" sz="1150">
                <a:solidFill>
                  <a:schemeClr val="dk1"/>
                </a:solidFill>
              </a:rPr>
              <a:t>Version 3 - Auto-ARIMA with Exogenous Variables:</a:t>
            </a:r>
            <a:endParaRPr b="1" sz="1150">
              <a:solidFill>
                <a:schemeClr val="dk1"/>
              </a:solidFill>
            </a:endParaRPr>
          </a:p>
          <a:p>
            <a:pPr indent="0" lvl="0" marL="0" rtl="0" algn="l">
              <a:spcBef>
                <a:spcPts val="0"/>
              </a:spcBef>
              <a:spcAft>
                <a:spcPts val="0"/>
              </a:spcAft>
              <a:buNone/>
            </a:pPr>
            <a:r>
              <a:rPr lang="en" sz="1150">
                <a:solidFill>
                  <a:schemeClr val="dk1"/>
                </a:solidFill>
              </a:rPr>
              <a:t>Temperature and humidity were added as external regressors, capturing real-world drivers of energy demand. Exogenous variables, unlike lag-based predictors, represent external influences that affect power consumption patterns. This version reduced RMSE by approximately 1,000 points and further lowered AIC, combining the high accuracy of Version 1 with the efficiency of Version 2.</a:t>
            </a:r>
            <a:endParaRPr sz="1150">
              <a:solidFill>
                <a:schemeClr val="dk1"/>
              </a:solidFill>
            </a:endParaRPr>
          </a:p>
          <a:p>
            <a:pPr indent="0" lvl="0" marL="0" rtl="0" algn="l">
              <a:spcBef>
                <a:spcPts val="0"/>
              </a:spcBef>
              <a:spcAft>
                <a:spcPts val="0"/>
              </a:spcAft>
              <a:buNone/>
            </a:pPr>
            <a:r>
              <a:t/>
            </a:r>
            <a:endParaRPr sz="550">
              <a:solidFill>
                <a:schemeClr val="dk1"/>
              </a:solidFill>
            </a:endParaRPr>
          </a:p>
          <a:p>
            <a:pPr indent="0" lvl="0" marL="0" rtl="0" algn="l">
              <a:spcBef>
                <a:spcPts val="0"/>
              </a:spcBef>
              <a:spcAft>
                <a:spcPts val="0"/>
              </a:spcAft>
              <a:buNone/>
            </a:pPr>
            <a:r>
              <a:rPr lang="en" sz="1150">
                <a:solidFill>
                  <a:schemeClr val="dk1"/>
                </a:solidFill>
              </a:rPr>
              <a:t>In conclusion, Version 3 emerged as the most balanced and interpretable model with the best accuracy parsimony fit. Iterative modeling helped us see how tuning parameters, running diagnostics can improve reliability, planning and decision making. These models are </a:t>
            </a:r>
            <a:r>
              <a:rPr lang="en" sz="1150">
                <a:solidFill>
                  <a:schemeClr val="dk1"/>
                </a:solidFill>
              </a:rPr>
              <a:t>helpful</a:t>
            </a:r>
            <a:r>
              <a:rPr lang="en" sz="1150">
                <a:solidFill>
                  <a:schemeClr val="dk1"/>
                </a:solidFill>
              </a:rPr>
              <a:t> on the larger scale to make sure energy consumption and </a:t>
            </a:r>
            <a:r>
              <a:rPr lang="en" sz="1150">
                <a:solidFill>
                  <a:schemeClr val="dk1"/>
                </a:solidFill>
              </a:rPr>
              <a:t>resource</a:t>
            </a:r>
            <a:r>
              <a:rPr lang="en" sz="1150">
                <a:solidFill>
                  <a:schemeClr val="dk1"/>
                </a:solidFill>
              </a:rPr>
              <a:t> allocation are optimized and may have </a:t>
            </a:r>
            <a:r>
              <a:rPr b="1" lang="en" sz="1150">
                <a:solidFill>
                  <a:schemeClr val="dk1"/>
                </a:solidFill>
              </a:rPr>
              <a:t>business applications in utilities, manufacturing businesses and commercial and residential buildings.</a:t>
            </a:r>
            <a:endParaRPr sz="1150">
              <a:solidFill>
                <a:schemeClr val="dk1"/>
              </a:solidFill>
            </a:endParaRPr>
          </a:p>
        </p:txBody>
      </p:sp>
      <p:sp>
        <p:nvSpPr>
          <p:cNvPr id="158" name="Google Shape;15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Conclusions and Interpretations</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